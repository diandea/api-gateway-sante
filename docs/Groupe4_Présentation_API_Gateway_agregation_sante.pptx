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7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IBM Plex Sans" panose="020B0503050203000203" pitchFamily="34" charset="0"/>
      <p:regular r:id="rId17"/>
      <p:bold r:id="rId18"/>
    </p:embeddedFont>
    <p:embeddedFont>
      <p:font typeface="JetBrains Mono" panose="020B0604020202020204" charset="0"/>
      <p:regular r:id="rId19"/>
      <p:bold r:id="rId20"/>
    </p:embeddedFont>
    <p:embeddedFont>
      <p:font typeface="Poppins" panose="00000500000000000000" pitchFamily="2"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593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err="1"/>
              <a:t>Présenter</a:t>
            </a:r>
            <a:r>
              <a:rPr lang="en-US" dirty="0"/>
              <a:t> le </a:t>
            </a:r>
            <a:r>
              <a:rPr lang="en-US" dirty="0" err="1"/>
              <a:t>sujet</a:t>
            </a:r>
            <a:r>
              <a:rPr lang="en-US" dirty="0"/>
              <a:t> </a:t>
            </a:r>
            <a:r>
              <a:rPr lang="en-US" dirty="0" err="1"/>
              <a:t>en</a:t>
            </a:r>
            <a:r>
              <a:rPr lang="en-US" dirty="0"/>
              <a:t> </a:t>
            </a:r>
            <a:r>
              <a:rPr lang="en-US" dirty="0" err="1"/>
              <a:t>une</a:t>
            </a:r>
            <a:r>
              <a:rPr lang="en-US" dirty="0"/>
              <a:t> phrase : on </a:t>
            </a:r>
            <a:r>
              <a:rPr lang="en-US" dirty="0" err="1"/>
              <a:t>veut</a:t>
            </a:r>
            <a:r>
              <a:rPr lang="en-US" dirty="0"/>
              <a:t> un </a:t>
            </a:r>
            <a:r>
              <a:rPr lang="en-US" dirty="0" err="1"/>
              <a:t>seul</a:t>
            </a:r>
            <a:r>
              <a:rPr lang="en-US" dirty="0"/>
              <a:t> </a:t>
            </a:r>
            <a:r>
              <a:rPr lang="en-US" dirty="0" err="1"/>
              <a:t>appel</a:t>
            </a:r>
            <a:r>
              <a:rPr lang="en-US" dirty="0"/>
              <a:t> pour </a:t>
            </a:r>
            <a:r>
              <a:rPr lang="en-US" dirty="0" err="1"/>
              <a:t>obtenir</a:t>
            </a:r>
            <a:r>
              <a:rPr lang="en-US" dirty="0"/>
              <a:t> la fiche </a:t>
            </a:r>
            <a:r>
              <a:rPr lang="en-US" dirty="0" err="1"/>
              <a:t>d’une</a:t>
            </a:r>
            <a:r>
              <a:rPr lang="en-US" dirty="0"/>
              <a:t> structure de </a:t>
            </a:r>
            <a:r>
              <a:rPr lang="en-US" dirty="0" err="1"/>
              <a:t>santé</a:t>
            </a:r>
            <a:r>
              <a:rPr lang="en-US" dirty="0"/>
              <a:t> avec </a:t>
            </a:r>
            <a:r>
              <a:rPr lang="en-US" dirty="0" err="1"/>
              <a:t>ses</a:t>
            </a:r>
            <a:r>
              <a:rPr lang="en-US" dirty="0"/>
              <a:t> </a:t>
            </a:r>
            <a:r>
              <a:rPr lang="en-US" dirty="0" err="1"/>
              <a:t>indicateurs</a:t>
            </a:r>
            <a:r>
              <a:rPr lang="en-US" dirty="0"/>
              <a:t>, sans </a:t>
            </a:r>
            <a:r>
              <a:rPr lang="en-US" dirty="0" err="1"/>
              <a:t>fusionner</a:t>
            </a:r>
            <a:r>
              <a:rPr lang="en-US" dirty="0"/>
              <a:t> les services qui </a:t>
            </a:r>
            <a:r>
              <a:rPr lang="en-US" dirty="0" err="1"/>
              <a:t>détiennent</a:t>
            </a:r>
            <a:r>
              <a:rPr lang="en-US" dirty="0"/>
              <a:t> </a:t>
            </a:r>
            <a:r>
              <a:rPr lang="en-US" dirty="0" err="1"/>
              <a:t>ces</a:t>
            </a:r>
            <a:r>
              <a:rPr lang="en-US" dirty="0"/>
              <a:t> données. </a:t>
            </a:r>
            <a:r>
              <a:rPr lang="en-US" dirty="0" err="1"/>
              <a:t>Annoncer</a:t>
            </a:r>
            <a:r>
              <a:rPr lang="en-US" dirty="0"/>
              <a:t> le plan : </a:t>
            </a:r>
            <a:r>
              <a:rPr lang="en-US" dirty="0" err="1"/>
              <a:t>besoin</a:t>
            </a:r>
            <a:r>
              <a:rPr lang="en-US" dirty="0"/>
              <a:t>, architecture, </a:t>
            </a:r>
            <a:r>
              <a:rPr lang="en-US" dirty="0" err="1"/>
              <a:t>composants</a:t>
            </a:r>
            <a:r>
              <a:rPr lang="en-US" dirty="0"/>
              <a:t>, </a:t>
            </a:r>
            <a:r>
              <a:rPr lang="en-US" dirty="0" err="1"/>
              <a:t>robustesse</a:t>
            </a:r>
            <a:r>
              <a:rPr lang="en-US" dirty="0"/>
              <a:t>, tests et </a:t>
            </a:r>
            <a:r>
              <a:rPr lang="en-US" dirty="0" err="1"/>
              <a:t>démonstration</a:t>
            </a:r>
            <a:r>
              <a:rPr lang="en-US" dirty="0"/>
              <a:t>.</a:t>
            </a:r>
          </a:p>
        </p:txBody>
      </p:sp>
    </p:spTree>
    <p:extLst>
      <p:ext uri="{BB962C8B-B14F-4D97-AF65-F5344CB8AC3E}">
        <p14:creationId xmlns:p14="http://schemas.microsoft.com/office/powerpoint/2010/main" val="4268955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qu’un tableau de bord par structure a besoin des trois types de données. Sans passerelle, le client devrait connaître trois adresses, faire trois appels et gérer trois types de pannes. La contrainte clé : chaque service garde sa responsabilité ; on ne crée pas une grosse API qui fait tout.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schéma de gauche à droite. Kong ne fusionne rien : il route, ajoute l’identifiant de corrélation, journalise et limite le débit. L’agrégateur est un service à part qui appelle les trois API en même temps. Les appels internes passent par le réseau Docker, pas par Kong : Kong gère le trafic entrant (nord-sud), pas les appels entre services (est-ouest).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mode DB-less de Kong : toute la configuration est dans un fichier YAML versionné avec le code, sans base PostgreSQL. Et sur l’asynchrone : un seul processus attend plusieurs réponses réseau à la fois, d’où des appels parallèles.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Aucune API n’appelle les autres : c’est ce qui les rend indépendantes. Le code commun (journaux JSON, corrélation, mode chaos) est dans common/observability.py. Le mode chaos (POST /_chaos) rend un service lent ou en erreur sans le redémarrer : il sert aux tests et à la démo.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L’agrégateur n’a aucune règle métier : il orchestre. La fonction call_upstream renvoie toujours un résultat décrit (statut, données, erreur, durée), jamais une exception, ce qui rend la composition simple. Le bloc sources de la réponse indique, pour chaque service, son statut, son code HTTP et sa durée.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notions : un service (une API en aval et ses délais), une route (chemin + méthode vers un service), un plugin (comportement ajouté au trafic). Mode DB-less : KONG_DATABASE=off, la config est lue au démarrage. Zéro retry vers l’agrégateur : il gère déjà ses pannes, réessayer doublerait l’attente. Montrer la config chargée avec curl localhost:8001/services.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cœur de l’exigence 5. Un null seul est ambigu ; c’est le statut de la section qui lève l’ambiguïté. Chaque section du tableau de bord porte son statut. Côté indicateurs, un null métier vient avec sa raison dans valeurs_nulles (par exemple NON_APPLICABLE pour un CSPS sans lits).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pas 206 ? Il est réservé aux requêtes Range (téléchargement par morceaux). Pourquoi 503 si la structure tombe ? Sans elle on ne peut même pas confirmer que l’identifiant existe. Même en 503, le corps contient ce qui a été obtenu, pour le diagnostic.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l’ordre était inversé (Kong à 2 s, services à 5 s), Kong couperait avant l’agrégateur : le client recevrait un 504 générique et perdrait les sections déjà obtenues. Ici, avec un service lent de 5 s, la réponse arrive en 2 s environ, partielle et explicite.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l’agrégateur, l’identifiant est rangé dans une ContextVar Python : chaque tâche asyncio copie le contexte de sa requête, donc les trois appels parallèles voient le même identifiant, et deux requêtes simultanées ne se mélangent pas. Les journaux sont en JSON, une ligne par événement : http_request, upstream_call, aggregation_completed, plus le file-log de Kong.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niveaux. Les tests unitaires simulent les trois API avec un faux transport HTTP : on choisit pour chaque test si un service répond, met 5 s, renvoie 500 ou est arrêté. Les tests de bout en bout passent par Kong et provoquent les pannes avec /_chaos et docker compose stop. Résultats obtenus dans la VM Vagrant, les 5 conteneurs en état healthy. Les 28 tests incluent 5 tests qui vérifient que les contrats OpenAPI publiés dans contracts/ correspondent au code. Le workflow GitHub Actions rejoue les deux niveaux à chaque push.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Avoir deux terminaux dans la VM : un pour les requêtes, un pour docker compose logs -f aggregator. Lancer bash tests/e2e_kong.sh juste avant la soutenance pour vérifier que tout est vert. Après chaque panne, remettre le mode normal ou docker compose start.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la valeur : le client fait un appel au lieu de trois, et la panne d’un service secondaire donne une réponse partielle explicite au lieu d’une erreur. Les pistes sont des réponses toutes prêtes à « que feriez-vous ensuite ? ». En production, les données patients exigeraient authentification, HTTPS et contrôle d’accès.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78471"/>
            <a:ext cx="10566466" cy="446980"/>
          </a:xfrm>
          <a:prstGeom prst="rect">
            <a:avLst/>
          </a:prstGeom>
          <a:noFill/>
          <a:ln/>
        </p:spPr>
        <p:txBody>
          <a:bodyPr wrap="square" lIns="0" tIns="0" rIns="0" bIns="0" rtlCol="0" anchor="t"/>
          <a:lstStyle>
            <a:lvl1pPr marL="0" indent="0" algn="l">
              <a:lnSpc>
                <a:spcPct val="115000"/>
              </a:lnSpc>
              <a:buNone/>
              <a:defRPr lang="en-US" sz="3200" dirty="0">
                <a:solidFill>
                  <a:srgbClr val="10272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930251"/>
            <a:ext cx="10566433" cy="4114949"/>
          </a:xfrm>
          <a:prstGeom prst="rect">
            <a:avLst/>
          </a:prstGeom>
          <a:noFill/>
          <a:ln/>
        </p:spPr>
        <p:txBody>
          <a:bodyPr wrap="square" lIns="0" tIns="0" rIns="0" bIns="0" rtlCol="0" anchor="t"/>
          <a:lstStyle>
            <a:lvl1pPr marL="0" indent="0" algn="l">
              <a:lnSpc>
                <a:spcPct val="140000"/>
              </a:lnSpc>
              <a:buNone/>
              <a:defRPr lang="en-US" sz="1600" dirty="0">
                <a:solidFill>
                  <a:srgbClr val="10272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7F3253-FCED-4CF4-BA74-DC44D720E34F}" type="datetime1">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378828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78471"/>
            <a:ext cx="10566466" cy="446980"/>
          </a:xfrm>
          <a:prstGeom prst="rect">
            <a:avLst/>
          </a:prstGeom>
          <a:noFill/>
          <a:ln/>
        </p:spPr>
        <p:txBody>
          <a:bodyPr wrap="square" lIns="0" tIns="0" rIns="0" bIns="0" rtlCol="0" anchor="t"/>
          <a:lstStyle>
            <a:lvl1pPr marL="0" indent="0" algn="l">
              <a:lnSpc>
                <a:spcPct val="115000"/>
              </a:lnSpc>
              <a:buNone/>
              <a:defRPr lang="en-US" sz="3200" dirty="0">
                <a:solidFill>
                  <a:srgbClr val="10272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930251"/>
            <a:ext cx="10566433" cy="4114949"/>
          </a:xfrm>
          <a:prstGeom prst="rect">
            <a:avLst/>
          </a:prstGeom>
          <a:noFill/>
          <a:ln/>
        </p:spPr>
        <p:txBody>
          <a:bodyPr wrap="square" lIns="0" tIns="0" rIns="0" bIns="0" rtlCol="0" anchor="t"/>
          <a:lstStyle>
            <a:lvl1pPr marL="0" indent="0" algn="l">
              <a:lnSpc>
                <a:spcPct val="140000"/>
              </a:lnSpc>
              <a:buNone/>
              <a:defRPr lang="en-US" sz="1600" dirty="0">
                <a:solidFill>
                  <a:srgbClr val="10272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a:off x="1789491" y="139024"/>
            <a:ext cx="1737173" cy="1293851"/>
          </a:xfrm>
          <a:custGeom>
            <a:avLst/>
            <a:gdLst/>
            <a:ahLst/>
            <a:cxnLst/>
            <a:rect l="l" t="t" r="r" b="b"/>
            <a:pathLst>
              <a:path w="2261274" h="2321044">
                <a:moveTo>
                  <a:pt x="0" y="0"/>
                </a:moveTo>
                <a:lnTo>
                  <a:pt x="2261275" y="0"/>
                </a:lnTo>
                <a:lnTo>
                  <a:pt x="2261275" y="2321044"/>
                </a:lnTo>
                <a:lnTo>
                  <a:pt x="0" y="2321044"/>
                </a:lnTo>
                <a:lnTo>
                  <a:pt x="0" y="0"/>
                </a:lnTo>
                <a:close/>
              </a:path>
            </a:pathLst>
          </a:custGeom>
          <a:blipFill>
            <a:blip r:embed="rId3"/>
            <a:stretch>
              <a:fillRect/>
            </a:stretch>
          </a:blipFill>
        </p:spPr>
        <p:txBody>
          <a:bodyPr/>
          <a:lstStyle/>
          <a:p>
            <a:endParaRPr lang="fr-FR" noProof="0" dirty="0"/>
          </a:p>
        </p:txBody>
      </p:sp>
      <p:sp>
        <p:nvSpPr>
          <p:cNvPr id="7" name="Freeform 7"/>
          <p:cNvSpPr/>
          <p:nvPr/>
        </p:nvSpPr>
        <p:spPr>
          <a:xfrm>
            <a:off x="8899448" y="287744"/>
            <a:ext cx="1620118" cy="1145130"/>
          </a:xfrm>
          <a:custGeom>
            <a:avLst/>
            <a:gdLst/>
            <a:ahLst/>
            <a:cxnLst/>
            <a:rect l="l" t="t" r="r" b="b"/>
            <a:pathLst>
              <a:path w="2846018" h="1637555">
                <a:moveTo>
                  <a:pt x="0" y="0"/>
                </a:moveTo>
                <a:lnTo>
                  <a:pt x="2846019" y="0"/>
                </a:lnTo>
                <a:lnTo>
                  <a:pt x="2846019" y="1637555"/>
                </a:lnTo>
                <a:lnTo>
                  <a:pt x="0" y="1637555"/>
                </a:lnTo>
                <a:lnTo>
                  <a:pt x="0" y="0"/>
                </a:lnTo>
                <a:close/>
              </a:path>
            </a:pathLst>
          </a:custGeom>
          <a:blipFill>
            <a:blip r:embed="rId4"/>
            <a:stretch>
              <a:fillRect/>
            </a:stretch>
          </a:blipFill>
        </p:spPr>
        <p:txBody>
          <a:bodyPr/>
          <a:lstStyle/>
          <a:p>
            <a:endParaRPr lang="fr-FR" noProof="0" dirty="0"/>
          </a:p>
        </p:txBody>
      </p:sp>
      <p:sp>
        <p:nvSpPr>
          <p:cNvPr id="12" name="TextBox 12"/>
          <p:cNvSpPr txBox="1"/>
          <p:nvPr/>
        </p:nvSpPr>
        <p:spPr>
          <a:xfrm>
            <a:off x="3613548" y="1619547"/>
            <a:ext cx="5466284" cy="270106"/>
          </a:xfrm>
          <a:prstGeom prst="rect">
            <a:avLst/>
          </a:prstGeom>
        </p:spPr>
        <p:txBody>
          <a:bodyPr wrap="square" lIns="0" tIns="0" rIns="0" bIns="0" rtlCol="0" anchor="t">
            <a:spAutoFit/>
          </a:bodyPr>
          <a:lstStyle/>
          <a:p>
            <a:pPr>
              <a:lnSpc>
                <a:spcPts val="1904"/>
              </a:lnSpc>
            </a:pPr>
            <a:r>
              <a:rPr lang="fr-FR" sz="2400" b="1" u="sng" noProof="0" dirty="0">
                <a:solidFill>
                  <a:srgbClr val="014A85"/>
                </a:solidFill>
                <a:ea typeface="Poppins Bold"/>
                <a:cs typeface="Poppins Bold"/>
                <a:sym typeface="Poppins Bold"/>
              </a:rPr>
              <a:t>Master I</a:t>
            </a:r>
            <a:r>
              <a:rPr lang="fr-FR" sz="2400" b="1" noProof="0" dirty="0">
                <a:solidFill>
                  <a:srgbClr val="014A85"/>
                </a:solidFill>
                <a:ea typeface="Poppins Bold"/>
                <a:cs typeface="Poppins Bold"/>
                <a:sym typeface="Poppins Bold"/>
              </a:rPr>
              <a:t>:  Sécurité Informatique (SI)</a:t>
            </a:r>
          </a:p>
        </p:txBody>
      </p:sp>
      <p:sp>
        <p:nvSpPr>
          <p:cNvPr id="13" name="TextBox 13"/>
          <p:cNvSpPr txBox="1"/>
          <p:nvPr/>
        </p:nvSpPr>
        <p:spPr>
          <a:xfrm>
            <a:off x="7402326" y="4514491"/>
            <a:ext cx="3157979" cy="1218282"/>
          </a:xfrm>
          <a:prstGeom prst="rect">
            <a:avLst/>
          </a:prstGeom>
        </p:spPr>
        <p:txBody>
          <a:bodyPr wrap="square" lIns="0" tIns="0" rIns="0" bIns="0" rtlCol="0" anchor="t">
            <a:spAutoFit/>
          </a:bodyPr>
          <a:lstStyle/>
          <a:p>
            <a:pPr>
              <a:lnSpc>
                <a:spcPts val="1904"/>
              </a:lnSpc>
            </a:pPr>
            <a:r>
              <a:rPr lang="fr-FR" sz="1600" b="1" u="sng" noProof="0" dirty="0">
                <a:solidFill>
                  <a:srgbClr val="000000"/>
                </a:solidFill>
                <a:ea typeface="Poppins Bold"/>
                <a:cs typeface="Poppins"/>
                <a:sym typeface="Poppins"/>
              </a:rPr>
              <a:t>Enseignant</a:t>
            </a:r>
            <a:r>
              <a:rPr lang="fr-FR" sz="1600" b="1" u="sng" noProof="0" dirty="0">
                <a:solidFill>
                  <a:srgbClr val="000000"/>
                </a:solidFill>
                <a:ea typeface="Poppins Bold"/>
                <a:cs typeface="Poppins Bold"/>
                <a:sym typeface="Poppins Bold"/>
              </a:rPr>
              <a:t>: </a:t>
            </a:r>
            <a:br>
              <a:rPr lang="fr-FR" sz="1600" b="1" u="sng" noProof="0" dirty="0">
                <a:solidFill>
                  <a:srgbClr val="000000"/>
                </a:solidFill>
                <a:ea typeface="Poppins Bold"/>
                <a:cs typeface="Poppins Bold"/>
                <a:sym typeface="Poppins Bold"/>
              </a:rPr>
            </a:br>
            <a:endParaRPr lang="fr-FR" sz="1600" b="1" u="sng" noProof="0" dirty="0">
              <a:solidFill>
                <a:srgbClr val="000000"/>
              </a:solidFill>
              <a:ea typeface="Poppins Bold"/>
              <a:cs typeface="Poppins Bold"/>
              <a:sym typeface="Poppins Bold"/>
            </a:endParaRPr>
          </a:p>
          <a:p>
            <a:pPr>
              <a:lnSpc>
                <a:spcPts val="1904"/>
              </a:lnSpc>
            </a:pPr>
            <a:r>
              <a:rPr lang="fr-FR" sz="1600" noProof="0" dirty="0">
                <a:solidFill>
                  <a:srgbClr val="000000"/>
                </a:solidFill>
                <a:ea typeface="Poppins Bold"/>
                <a:cs typeface="Poppins Bold"/>
                <a:sym typeface="Poppins Bold"/>
              </a:rPr>
              <a:t>Monsieur KY Fadel Oumar </a:t>
            </a:r>
            <a:br>
              <a:rPr lang="fr-FR" sz="1600" b="1" noProof="0" dirty="0">
                <a:solidFill>
                  <a:srgbClr val="000000"/>
                </a:solidFill>
                <a:ea typeface="Poppins Bold"/>
                <a:cs typeface="Poppins Bold"/>
                <a:sym typeface="Poppins Bold"/>
              </a:rPr>
            </a:br>
            <a:endParaRPr lang="fr-FR" sz="1600" noProof="0" dirty="0">
              <a:solidFill>
                <a:srgbClr val="000000"/>
              </a:solidFill>
              <a:ea typeface="Poppins"/>
              <a:cs typeface="Times New Roman" panose="02020603050405020304" pitchFamily="18" charset="0"/>
              <a:sym typeface="Poppins"/>
            </a:endParaRPr>
          </a:p>
          <a:p>
            <a:pPr>
              <a:lnSpc>
                <a:spcPts val="1904"/>
              </a:lnSpc>
            </a:pPr>
            <a:endParaRPr lang="fr-FR" sz="1600" noProof="0" dirty="0">
              <a:solidFill>
                <a:srgbClr val="000000"/>
              </a:solidFill>
              <a:ea typeface="Poppins"/>
              <a:cs typeface="Poppins"/>
              <a:sym typeface="Poppins"/>
            </a:endParaRPr>
          </a:p>
        </p:txBody>
      </p:sp>
      <p:sp>
        <p:nvSpPr>
          <p:cNvPr id="14" name="TextBox 14"/>
          <p:cNvSpPr txBox="1"/>
          <p:nvPr/>
        </p:nvSpPr>
        <p:spPr>
          <a:xfrm>
            <a:off x="4841783" y="6107246"/>
            <a:ext cx="3500833" cy="235385"/>
          </a:xfrm>
          <a:prstGeom prst="rect">
            <a:avLst/>
          </a:prstGeom>
        </p:spPr>
        <p:txBody>
          <a:bodyPr wrap="square" lIns="0" tIns="0" rIns="0" bIns="0" rtlCol="0" anchor="t">
            <a:spAutoFit/>
          </a:bodyPr>
          <a:lstStyle/>
          <a:p>
            <a:pPr>
              <a:lnSpc>
                <a:spcPts val="1904"/>
              </a:lnSpc>
            </a:pPr>
            <a:r>
              <a:rPr lang="fr-FR" sz="1465" noProof="0" dirty="0">
                <a:solidFill>
                  <a:srgbClr val="000000"/>
                </a:solidFill>
                <a:latin typeface="Poppins"/>
                <a:ea typeface="Poppins"/>
                <a:cs typeface="Poppins"/>
                <a:sym typeface="Poppins"/>
              </a:rPr>
              <a:t>Année universitaire : 2025 - 2026</a:t>
            </a:r>
          </a:p>
        </p:txBody>
      </p:sp>
      <p:sp>
        <p:nvSpPr>
          <p:cNvPr id="2" name="TextBox 3">
            <a:extLst>
              <a:ext uri="{FF2B5EF4-FFF2-40B4-BE49-F238E27FC236}">
                <a16:creationId xmlns:a16="http://schemas.microsoft.com/office/drawing/2014/main" id="{674B67C7-2697-0C60-A1FE-74E4126E3910}"/>
              </a:ext>
            </a:extLst>
          </p:cNvPr>
          <p:cNvSpPr txBox="1"/>
          <p:nvPr/>
        </p:nvSpPr>
        <p:spPr>
          <a:xfrm>
            <a:off x="2265354" y="2025478"/>
            <a:ext cx="7755724" cy="95410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a:solidFill>
                  <a:srgbClr val="3C3C3C"/>
                </a:solidFill>
              </a:defRPr>
            </a:pPr>
            <a:r>
              <a:rPr lang="fr-FR" sz="2800" b="1" noProof="0" dirty="0">
                <a:solidFill>
                  <a:schemeClr val="accent1"/>
                </a:solidFill>
              </a:rPr>
              <a:t>Cours de développement de composants web Exercice 23</a:t>
            </a:r>
          </a:p>
        </p:txBody>
      </p:sp>
      <p:sp>
        <p:nvSpPr>
          <p:cNvPr id="17" name="TextBox 10">
            <a:extLst>
              <a:ext uri="{FF2B5EF4-FFF2-40B4-BE49-F238E27FC236}">
                <a16:creationId xmlns:a16="http://schemas.microsoft.com/office/drawing/2014/main" id="{3C67976D-D7F1-4129-A0FF-F460B88215DF}"/>
              </a:ext>
            </a:extLst>
          </p:cNvPr>
          <p:cNvSpPr txBox="1"/>
          <p:nvPr/>
        </p:nvSpPr>
        <p:spPr>
          <a:xfrm>
            <a:off x="2430876" y="3170393"/>
            <a:ext cx="7362331" cy="1171657"/>
          </a:xfrm>
          <a:prstGeom prst="rect">
            <a:avLst/>
          </a:prstGeom>
          <a:solidFill>
            <a:schemeClr val="accent2">
              <a:lumMod val="60000"/>
              <a:lumOff val="40000"/>
            </a:schemeClr>
          </a:solidFill>
        </p:spPr>
        <p:txBody>
          <a:bodyPr lIns="25400" tIns="25400" rIns="25400" bIns="25400" rtlCol="0" anchor="ctr"/>
          <a:lstStyle/>
          <a:p>
            <a:pPr algn="ctr">
              <a:lnSpc>
                <a:spcPts val="1950"/>
              </a:lnSpc>
            </a:pPr>
            <a:endParaRPr lang="fr-FR" sz="2800" noProof="0" dirty="0">
              <a:ln w="0"/>
              <a:effectLst>
                <a:outerShdw blurRad="38100" dist="19050" dir="2700000" algn="tl" rotWithShape="0">
                  <a:schemeClr val="dk1">
                    <a:alpha val="40000"/>
                  </a:schemeClr>
                </a:outerShdw>
              </a:effectLst>
              <a:ea typeface="Poppins Bold"/>
              <a:cs typeface="Times New Roman" panose="02020603050405020304" pitchFamily="18" charset="0"/>
              <a:sym typeface="Poppins Bold"/>
            </a:endParaRPr>
          </a:p>
          <a:p>
            <a:pPr algn="ctr">
              <a:lnSpc>
                <a:spcPts val="1950"/>
              </a:lnSpc>
            </a:pPr>
            <a:r>
              <a:rPr lang="fr-FR" sz="2800" noProof="0" dirty="0">
                <a:ln w="0"/>
                <a:effectLst>
                  <a:outerShdw blurRad="38100" dist="19050" dir="2700000" algn="tl" rotWithShape="0">
                    <a:schemeClr val="dk1">
                      <a:alpha val="40000"/>
                    </a:schemeClr>
                  </a:outerShdw>
                </a:effectLst>
                <a:ea typeface="Poppins Bold"/>
                <a:cs typeface="Times New Roman" panose="02020603050405020304" pitchFamily="18" charset="0"/>
                <a:sym typeface="Poppins Bold"/>
              </a:rPr>
              <a:t>API Gateway d’agrégation </a:t>
            </a:r>
          </a:p>
          <a:p>
            <a:pPr algn="ctr">
              <a:lnSpc>
                <a:spcPts val="1950"/>
              </a:lnSpc>
            </a:pPr>
            <a:endParaRPr lang="fr-FR" sz="2800" noProof="0" dirty="0">
              <a:ln w="0"/>
              <a:effectLst>
                <a:outerShdw blurRad="38100" dist="19050" dir="2700000" algn="tl" rotWithShape="0">
                  <a:schemeClr val="dk1">
                    <a:alpha val="40000"/>
                  </a:schemeClr>
                </a:outerShdw>
              </a:effectLst>
              <a:ea typeface="Poppins Bold"/>
              <a:cs typeface="Times New Roman" panose="02020603050405020304" pitchFamily="18" charset="0"/>
              <a:sym typeface="Poppins Bold"/>
            </a:endParaRPr>
          </a:p>
          <a:p>
            <a:pPr algn="ctr">
              <a:lnSpc>
                <a:spcPts val="1950"/>
              </a:lnSpc>
            </a:pPr>
            <a:r>
              <a:rPr lang="fr-FR" sz="2800" noProof="0" dirty="0">
                <a:ln w="0"/>
                <a:effectLst>
                  <a:outerShdw blurRad="38100" dist="19050" dir="2700000" algn="tl" rotWithShape="0">
                    <a:schemeClr val="dk1">
                      <a:alpha val="40000"/>
                    </a:schemeClr>
                  </a:outerShdw>
                </a:effectLst>
                <a:ea typeface="Poppins Bold"/>
                <a:cs typeface="Times New Roman" panose="02020603050405020304" pitchFamily="18" charset="0"/>
                <a:sym typeface="Poppins Bold"/>
              </a:rPr>
              <a:t>pour un système de santé</a:t>
            </a:r>
          </a:p>
        </p:txBody>
      </p:sp>
      <p:sp>
        <p:nvSpPr>
          <p:cNvPr id="19" name="TextBox 11">
            <a:extLst>
              <a:ext uri="{FF2B5EF4-FFF2-40B4-BE49-F238E27FC236}">
                <a16:creationId xmlns:a16="http://schemas.microsoft.com/office/drawing/2014/main" id="{82CDD0E3-775D-4D71-8172-B912B27F2AC7}"/>
              </a:ext>
            </a:extLst>
          </p:cNvPr>
          <p:cNvSpPr txBox="1"/>
          <p:nvPr/>
        </p:nvSpPr>
        <p:spPr>
          <a:xfrm>
            <a:off x="672051" y="4985857"/>
            <a:ext cx="3909279" cy="1718419"/>
          </a:xfrm>
          <a:prstGeom prst="rect">
            <a:avLst/>
          </a:prstGeom>
        </p:spPr>
        <p:txBody>
          <a:bodyPr wrap="square" lIns="0" tIns="0" rIns="0" bIns="0" rtlCol="0" anchor="t">
            <a:spAutoFit/>
          </a:bodyPr>
          <a:lstStyle/>
          <a:p>
            <a:pPr>
              <a:lnSpc>
                <a:spcPts val="1904"/>
              </a:lnSpc>
            </a:pPr>
            <a:r>
              <a:rPr lang="fr-FR" sz="1600" b="1" u="sng" noProof="0" dirty="0">
                <a:solidFill>
                  <a:srgbClr val="000000"/>
                </a:solidFill>
                <a:ea typeface="Poppins Bold"/>
                <a:cs typeface="Poppins Bold"/>
                <a:sym typeface="Poppins Bold"/>
              </a:rPr>
              <a:t>Présenté par les membres du groupe 4:</a:t>
            </a:r>
          </a:p>
          <a:p>
            <a:pPr>
              <a:lnSpc>
                <a:spcPts val="1904"/>
              </a:lnSpc>
            </a:pPr>
            <a:endParaRPr lang="fr-FR" sz="1600" b="1" u="sng" noProof="0" dirty="0">
              <a:solidFill>
                <a:srgbClr val="000000"/>
              </a:solidFill>
              <a:ea typeface="Poppins"/>
              <a:cs typeface="Poppins Bold"/>
              <a:sym typeface="Poppins Bold"/>
            </a:endParaRPr>
          </a:p>
          <a:p>
            <a:r>
              <a:rPr lang="fr-FR" sz="1600" noProof="0" dirty="0">
                <a:cs typeface="Times New Roman" panose="02020603050405020304" pitchFamily="18" charset="0"/>
              </a:rPr>
              <a:t>DIANDE ABDOU NASSIRO</a:t>
            </a:r>
          </a:p>
          <a:p>
            <a:r>
              <a:rPr lang="fr-FR" sz="1600" noProof="0" dirty="0">
                <a:cs typeface="Times New Roman" panose="02020603050405020304" pitchFamily="18" charset="0"/>
              </a:rPr>
              <a:t>OUEDRAOGO W. BASILE</a:t>
            </a:r>
          </a:p>
          <a:p>
            <a:r>
              <a:rPr lang="fr-FR" sz="1600" noProof="0" dirty="0">
                <a:cs typeface="Times New Roman" panose="02020603050405020304" pitchFamily="18" charset="0"/>
              </a:rPr>
              <a:t>OUEDRAOGO SANATA</a:t>
            </a:r>
          </a:p>
          <a:p>
            <a:r>
              <a:rPr lang="fr-FR" sz="1600" noProof="0" dirty="0">
                <a:cs typeface="Times New Roman" panose="02020603050405020304" pitchFamily="18" charset="0"/>
              </a:rPr>
              <a:t>TIONON </a:t>
            </a:r>
            <a:r>
              <a:rPr lang="fr-FR" sz="1600" noProof="0" dirty="0" err="1">
                <a:cs typeface="Times New Roman" panose="02020603050405020304" pitchFamily="18" charset="0"/>
              </a:rPr>
              <a:t>Filwende</a:t>
            </a:r>
            <a:r>
              <a:rPr lang="fr-FR" sz="1600" noProof="0" dirty="0">
                <a:cs typeface="Times New Roman" panose="02020603050405020304" pitchFamily="18" charset="0"/>
              </a:rPr>
              <a:t> </a:t>
            </a:r>
            <a:r>
              <a:rPr lang="fr-FR" sz="1600" noProof="0" dirty="0" err="1">
                <a:cs typeface="Times New Roman" panose="02020603050405020304" pitchFamily="18" charset="0"/>
              </a:rPr>
              <a:t>michael</a:t>
            </a:r>
            <a:endParaRPr lang="fr-FR" sz="1600" noProof="0" dirty="0">
              <a:cs typeface="Times New Roman" panose="02020603050405020304" pitchFamily="18" charset="0"/>
            </a:endParaRPr>
          </a:p>
          <a:p>
            <a:r>
              <a:rPr lang="fr-FR" sz="1600" noProof="0" dirty="0">
                <a:cs typeface="Times New Roman" panose="02020603050405020304" pitchFamily="18" charset="0"/>
              </a:rPr>
              <a:t>WANDAOGO SALIF</a:t>
            </a:r>
            <a:endParaRPr lang="fr-FR" sz="1600" b="1" u="sng" noProof="0" dirty="0">
              <a:solidFill>
                <a:srgbClr val="000000"/>
              </a:solidFill>
              <a:ea typeface="Poppins"/>
              <a:cs typeface="Poppins Bold"/>
              <a:sym typeface="Poppi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LE BESOIN</a:t>
            </a:r>
            <a:endParaRPr lang="en-US" sz="1200" dirty="0"/>
          </a:p>
        </p:txBody>
      </p:sp>
      <p:sp>
        <p:nvSpPr>
          <p:cNvPr id="3" name="Text 1"/>
          <p:cNvSpPr>
            <a:spLocks noGrp="1"/>
          </p:cNvSpPr>
          <p:nvPr>
            <p:ph type="title"/>
          </p:nvPr>
        </p:nvSpPr>
        <p:spPr>
          <a:xfrm>
            <a:off x="812767" y="1178471"/>
            <a:ext cx="1088346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0272C"/>
                </a:solidFill>
                <a:latin typeface="IBM Plex Sans" pitchFamily="34" charset="0"/>
                <a:ea typeface="IBM Plex Sans" pitchFamily="34" charset="-122"/>
                <a:cs typeface="IBM Plex Sans" pitchFamily="34" charset="-120"/>
              </a:rPr>
              <a:t>Un écran de pilotage demande trois sources.</a:t>
            </a:r>
            <a:endParaRPr lang="en-US" sz="3200" dirty="0"/>
          </a:p>
          <a:p>
            <a:pPr marL="0" indent="0" algn="l">
              <a:lnSpc>
                <a:spcPts val="3680"/>
              </a:lnSpc>
              <a:buNone/>
            </a:pPr>
            <a:r>
              <a:rPr lang="en-US" sz="3200" b="1" i="0" dirty="0">
                <a:solidFill>
                  <a:srgbClr val="10272C"/>
                </a:solidFill>
                <a:latin typeface="IBM Plex Sans" pitchFamily="34" charset="0"/>
                <a:ea typeface="IBM Plex Sans" pitchFamily="34" charset="-122"/>
                <a:cs typeface="IBM Plex Sans" pitchFamily="34" charset="-120"/>
              </a:rPr>
              <a:t>Le client ne doit en appeler qu’une.</a:t>
            </a:r>
            <a:endParaRPr lang="en-US" sz="3200" dirty="0"/>
          </a:p>
        </p:txBody>
      </p:sp>
      <p:sp>
        <p:nvSpPr>
          <p:cNvPr id="4" name="Shape 2"/>
          <p:cNvSpPr/>
          <p:nvPr/>
        </p:nvSpPr>
        <p:spPr>
          <a:xfrm>
            <a:off x="815942" y="2976099"/>
            <a:ext cx="3380317" cy="1718485"/>
          </a:xfrm>
          <a:prstGeom prst="roundRect">
            <a:avLst>
              <a:gd name="adj" fmla="val 5727"/>
            </a:avLst>
          </a:prstGeom>
          <a:solidFill>
            <a:srgbClr val="FFFFFF"/>
          </a:solidFill>
          <a:ln w="6350">
            <a:solidFill>
              <a:srgbClr val="DCE2DE"/>
            </a:solidFill>
            <a:prstDash val="solid"/>
          </a:ln>
        </p:spPr>
      </p:sp>
      <p:sp>
        <p:nvSpPr>
          <p:cNvPr id="5" name="Text 3"/>
          <p:cNvSpPr/>
          <p:nvPr/>
        </p:nvSpPr>
        <p:spPr>
          <a:xfrm>
            <a:off x="1072059" y="3232216"/>
            <a:ext cx="2954126"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Structures</a:t>
            </a:r>
            <a:endParaRPr lang="en-US" sz="2000" dirty="0"/>
          </a:p>
        </p:txBody>
      </p:sp>
      <p:sp>
        <p:nvSpPr>
          <p:cNvPr id="6" name="Text 4"/>
          <p:cNvSpPr/>
          <p:nvPr/>
        </p:nvSpPr>
        <p:spPr>
          <a:xfrm>
            <a:off x="1072059" y="3638517"/>
            <a:ext cx="2954126"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D"/>
                </a:solidFill>
                <a:latin typeface="IBM Plex Sans" pitchFamily="34" charset="0"/>
                <a:ea typeface="IBM Plex Sans" pitchFamily="34" charset="-122"/>
                <a:cs typeface="IBM Plex Sans" pitchFamily="34" charset="-120"/>
              </a:rPr>
              <a:t>Identité, type (CHU, CMA, CSPS), localisation, capacité en lits</a:t>
            </a:r>
            <a:endParaRPr lang="en-US" sz="1500" dirty="0"/>
          </a:p>
        </p:txBody>
      </p:sp>
      <p:sp>
        <p:nvSpPr>
          <p:cNvPr id="7" name="Shape 5"/>
          <p:cNvSpPr/>
          <p:nvPr/>
        </p:nvSpPr>
        <p:spPr>
          <a:xfrm>
            <a:off x="4405759" y="2976099"/>
            <a:ext cx="3380399" cy="1718485"/>
          </a:xfrm>
          <a:prstGeom prst="roundRect">
            <a:avLst>
              <a:gd name="adj" fmla="val 5727"/>
            </a:avLst>
          </a:prstGeom>
          <a:solidFill>
            <a:srgbClr val="FFFFFF"/>
          </a:solidFill>
          <a:ln w="6350">
            <a:solidFill>
              <a:srgbClr val="DCE2DE"/>
            </a:solidFill>
            <a:prstDash val="solid"/>
          </a:ln>
        </p:spPr>
      </p:sp>
      <p:sp>
        <p:nvSpPr>
          <p:cNvPr id="8" name="Text 6"/>
          <p:cNvSpPr/>
          <p:nvPr/>
        </p:nvSpPr>
        <p:spPr>
          <a:xfrm>
            <a:off x="4661876" y="3232216"/>
            <a:ext cx="2954211"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Indicateurs</a:t>
            </a:r>
            <a:endParaRPr lang="en-US" sz="2000" dirty="0"/>
          </a:p>
        </p:txBody>
      </p:sp>
      <p:sp>
        <p:nvSpPr>
          <p:cNvPr id="9" name="Text 7"/>
          <p:cNvSpPr/>
          <p:nvPr/>
        </p:nvSpPr>
        <p:spPr>
          <a:xfrm>
            <a:off x="4661876" y="3638517"/>
            <a:ext cx="2954211"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D"/>
                </a:solidFill>
                <a:latin typeface="IBM Plex Sans" pitchFamily="34" charset="0"/>
                <a:ea typeface="IBM Plex Sans" pitchFamily="34" charset="-122"/>
                <a:cs typeface="IBM Plex Sans" pitchFamily="34" charset="-120"/>
              </a:rPr>
              <a:t>Consultations, hospitalisations, décès, taux d’occupation, par mois</a:t>
            </a:r>
            <a:endParaRPr lang="en-US" sz="1500" dirty="0"/>
          </a:p>
        </p:txBody>
      </p:sp>
      <p:sp>
        <p:nvSpPr>
          <p:cNvPr id="10" name="Shape 8"/>
          <p:cNvSpPr/>
          <p:nvPr/>
        </p:nvSpPr>
        <p:spPr>
          <a:xfrm>
            <a:off x="7995658" y="2976099"/>
            <a:ext cx="3380399" cy="1718485"/>
          </a:xfrm>
          <a:prstGeom prst="roundRect">
            <a:avLst>
              <a:gd name="adj" fmla="val 5727"/>
            </a:avLst>
          </a:prstGeom>
          <a:solidFill>
            <a:srgbClr val="FFFFFF"/>
          </a:solidFill>
          <a:ln w="6350">
            <a:solidFill>
              <a:srgbClr val="DCE2DE"/>
            </a:solidFill>
            <a:prstDash val="solid"/>
          </a:ln>
        </p:spPr>
      </p:sp>
      <p:sp>
        <p:nvSpPr>
          <p:cNvPr id="11" name="Text 9"/>
          <p:cNvSpPr/>
          <p:nvPr/>
        </p:nvSpPr>
        <p:spPr>
          <a:xfrm>
            <a:off x="8251775" y="3232216"/>
            <a:ext cx="2954211"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Patients</a:t>
            </a:r>
            <a:endParaRPr lang="en-US" sz="2000" dirty="0"/>
          </a:p>
        </p:txBody>
      </p:sp>
      <p:sp>
        <p:nvSpPr>
          <p:cNvPr id="12" name="Text 10"/>
          <p:cNvSpPr/>
          <p:nvPr/>
        </p:nvSpPr>
        <p:spPr>
          <a:xfrm>
            <a:off x="8251775" y="3638517"/>
            <a:ext cx="2954211"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D"/>
                </a:solidFill>
                <a:latin typeface="IBM Plex Sans" pitchFamily="34" charset="0"/>
                <a:ea typeface="IBM Plex Sans" pitchFamily="34" charset="-122"/>
                <a:cs typeface="IBM Plex Sans" pitchFamily="34" charset="-120"/>
              </a:rPr>
              <a:t>Dossiers fictifs, répartition par sexe, statut et tranche d’âge</a:t>
            </a:r>
            <a:endParaRPr lang="en-US" sz="1500" dirty="0"/>
          </a:p>
        </p:txBody>
      </p:sp>
      <p:sp>
        <p:nvSpPr>
          <p:cNvPr id="13" name="Text 11"/>
          <p:cNvSpPr/>
          <p:nvPr/>
        </p:nvSpPr>
        <p:spPr>
          <a:xfrm>
            <a:off x="812767" y="5557490"/>
            <a:ext cx="10883460"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272C"/>
                </a:solidFill>
                <a:latin typeface="IBM Plex Sans" pitchFamily="34" charset="0"/>
                <a:ea typeface="IBM Plex Sans" pitchFamily="34" charset="-122"/>
                <a:cs typeface="IBM Plex Sans" pitchFamily="34" charset="-120"/>
              </a:rPr>
              <a:t>Contrainte de l’énoncé :</a:t>
            </a:r>
            <a:r>
              <a:rPr lang="en-US" sz="1600" dirty="0">
                <a:solidFill>
                  <a:srgbClr val="10272C"/>
                </a:solidFill>
                <a:latin typeface="IBM Plex Sans" pitchFamily="34" charset="0"/>
                <a:ea typeface="IBM Plex Sans" pitchFamily="34" charset="-122"/>
                <a:cs typeface="IBM Plex Sans" pitchFamily="34" charset="-120"/>
              </a:rPr>
              <a:t> simplifier l’accès </a:t>
            </a:r>
            <a:r>
              <a:rPr lang="en-US" sz="1600" dirty="0">
                <a:solidFill>
                  <a:srgbClr val="B3561A"/>
                </a:solidFill>
                <a:latin typeface="IBM Plex Sans" pitchFamily="34" charset="0"/>
                <a:ea typeface="IBM Plex Sans" pitchFamily="34" charset="-122"/>
                <a:cs typeface="IBM Plex Sans" pitchFamily="34" charset="-120"/>
              </a:rPr>
              <a:t>sans fusionner les responsabilités métier</a:t>
            </a:r>
            <a:r>
              <a:rPr lang="en-US" sz="1600" dirty="0">
                <a:solidFill>
                  <a:srgbClr val="10272C"/>
                </a:solidFill>
                <a:latin typeface="IBM Plex Sans" pitchFamily="34" charset="0"/>
                <a:ea typeface="IBM Plex Sans" pitchFamily="34" charset="-122"/>
                <a:cs typeface="IBM Plex Sans" pitchFamily="34" charset="-120"/>
              </a:rPr>
              <a:t> des services.</a:t>
            </a:r>
            <a:endParaRPr lang="en-US" sz="1600" dirty="0"/>
          </a:p>
        </p:txBody>
      </p:sp>
      <p:sp>
        <p:nvSpPr>
          <p:cNvPr id="14" name="Text 12"/>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Kong transporte, l’agrégateur assemble</a:t>
            </a:r>
            <a:endParaRPr lang="en-US" sz="3200" dirty="0"/>
          </a:p>
        </p:txBody>
      </p:sp>
      <p:sp>
        <p:nvSpPr>
          <p:cNvPr id="4" name="Shape 2"/>
          <p:cNvSpPr/>
          <p:nvPr/>
        </p:nvSpPr>
        <p:spPr>
          <a:xfrm>
            <a:off x="815942" y="2762945"/>
            <a:ext cx="1390650" cy="948961"/>
          </a:xfrm>
          <a:prstGeom prst="roundRect">
            <a:avLst>
              <a:gd name="adj" fmla="val 10372"/>
            </a:avLst>
          </a:prstGeom>
          <a:solidFill>
            <a:srgbClr val="FFFFFF"/>
          </a:solidFill>
          <a:ln w="6350">
            <a:solidFill>
              <a:srgbClr val="DCE2DE"/>
            </a:solidFill>
            <a:prstDash val="solid"/>
          </a:ln>
        </p:spPr>
      </p:sp>
      <p:sp>
        <p:nvSpPr>
          <p:cNvPr id="5" name="Text 3"/>
          <p:cNvSpPr/>
          <p:nvPr/>
        </p:nvSpPr>
        <p:spPr>
          <a:xfrm>
            <a:off x="1021209" y="2968211"/>
            <a:ext cx="1030916"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Client</a:t>
            </a:r>
            <a:endParaRPr lang="en-US" sz="1800" dirty="0"/>
          </a:p>
        </p:txBody>
      </p:sp>
      <p:sp>
        <p:nvSpPr>
          <p:cNvPr id="6" name="Text 4"/>
          <p:cNvSpPr/>
          <p:nvPr/>
        </p:nvSpPr>
        <p:spPr>
          <a:xfrm>
            <a:off x="1021209" y="3293318"/>
            <a:ext cx="10309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curl, Postman</a:t>
            </a:r>
            <a:endParaRPr lang="en-US" sz="1200" dirty="0"/>
          </a:p>
        </p:txBody>
      </p:sp>
      <p:pic>
        <p:nvPicPr>
          <p:cNvPr id="7" name="Image 0" descr="arrow-right"/>
          <p:cNvPicPr>
            <a:picLocks noChangeAspect="1"/>
          </p:cNvPicPr>
          <p:nvPr/>
        </p:nvPicPr>
        <p:blipFill>
          <a:blip r:embed="rId3"/>
          <a:srcRect l="-10" r="-10"/>
          <a:stretch/>
        </p:blipFill>
        <p:spPr>
          <a:xfrm>
            <a:off x="2362150" y="3135809"/>
            <a:ext cx="406383" cy="203150"/>
          </a:xfrm>
          <a:prstGeom prst="rect">
            <a:avLst/>
          </a:prstGeom>
        </p:spPr>
      </p:pic>
      <p:sp>
        <p:nvSpPr>
          <p:cNvPr id="8" name="Shape 5"/>
          <p:cNvSpPr/>
          <p:nvPr/>
        </p:nvSpPr>
        <p:spPr>
          <a:xfrm>
            <a:off x="2924092" y="2360447"/>
            <a:ext cx="2152650" cy="1753873"/>
          </a:xfrm>
          <a:prstGeom prst="roundRect">
            <a:avLst>
              <a:gd name="adj" fmla="val 5612"/>
            </a:avLst>
          </a:prstGeom>
          <a:solidFill>
            <a:srgbClr val="FFFFFF"/>
          </a:solidFill>
          <a:ln w="6350">
            <a:solidFill>
              <a:srgbClr val="DCE2DE"/>
            </a:solidFill>
            <a:prstDash val="solid"/>
          </a:ln>
        </p:spPr>
      </p:sp>
      <p:sp>
        <p:nvSpPr>
          <p:cNvPr id="9" name="Text 6"/>
          <p:cNvSpPr/>
          <p:nvPr/>
        </p:nvSpPr>
        <p:spPr>
          <a:xfrm>
            <a:off x="3129359" y="2565713"/>
            <a:ext cx="1794379"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Kong :8000</a:t>
            </a:r>
            <a:endParaRPr lang="en-US" sz="1800" dirty="0"/>
          </a:p>
        </p:txBody>
      </p:sp>
      <p:sp>
        <p:nvSpPr>
          <p:cNvPr id="10" name="Text 7"/>
          <p:cNvSpPr/>
          <p:nvPr/>
        </p:nvSpPr>
        <p:spPr>
          <a:xfrm>
            <a:off x="3129359" y="2916203"/>
            <a:ext cx="1794379" cy="25649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62B"/>
                </a:solidFill>
                <a:latin typeface="IBM Plex Sans" pitchFamily="34" charset="0"/>
                <a:ea typeface="IBM Plex Sans" pitchFamily="34" charset="-122"/>
                <a:cs typeface="IBM Plex Sans" pitchFamily="34" charset="-120"/>
              </a:rPr>
              <a:t>Point d’entrée unique</a:t>
            </a:r>
            <a:endParaRPr lang="en-US" sz="1300" dirty="0"/>
          </a:p>
        </p:txBody>
      </p:sp>
      <p:sp>
        <p:nvSpPr>
          <p:cNvPr id="11" name="Text 8"/>
          <p:cNvSpPr/>
          <p:nvPr/>
        </p:nvSpPr>
        <p:spPr>
          <a:xfrm>
            <a:off x="3129359" y="3223451"/>
            <a:ext cx="1794379" cy="711002"/>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correlation-id</a:t>
            </a:r>
            <a:endParaRPr lang="en-US" sz="1200" dirty="0"/>
          </a:p>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file-log (JSON)</a:t>
            </a:r>
            <a:endParaRPr lang="en-US" sz="1200" dirty="0"/>
          </a:p>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rate-limiting</a:t>
            </a:r>
            <a:endParaRPr lang="en-US" sz="1200" dirty="0"/>
          </a:p>
        </p:txBody>
      </p:sp>
      <p:pic>
        <p:nvPicPr>
          <p:cNvPr id="12" name="Image 1" descr="arrow-right"/>
          <p:cNvPicPr>
            <a:picLocks noChangeAspect="1"/>
          </p:cNvPicPr>
          <p:nvPr/>
        </p:nvPicPr>
        <p:blipFill>
          <a:blip r:embed="rId3"/>
          <a:srcRect l="-10" r="-10"/>
          <a:stretch/>
        </p:blipFill>
        <p:spPr>
          <a:xfrm>
            <a:off x="5232301" y="3135809"/>
            <a:ext cx="406383" cy="203150"/>
          </a:xfrm>
          <a:prstGeom prst="rect">
            <a:avLst/>
          </a:prstGeom>
        </p:spPr>
      </p:pic>
      <p:sp>
        <p:nvSpPr>
          <p:cNvPr id="13" name="Shape 9"/>
          <p:cNvSpPr/>
          <p:nvPr/>
        </p:nvSpPr>
        <p:spPr>
          <a:xfrm>
            <a:off x="5800592" y="2387963"/>
            <a:ext cx="2266950" cy="1698923"/>
          </a:xfrm>
          <a:prstGeom prst="roundRect">
            <a:avLst>
              <a:gd name="adj" fmla="val 5420"/>
            </a:avLst>
          </a:prstGeom>
          <a:solidFill>
            <a:srgbClr val="FCEBDC"/>
          </a:solidFill>
          <a:ln w="19050">
            <a:solidFill>
              <a:srgbClr val="D9782F"/>
            </a:solidFill>
            <a:prstDash val="solid"/>
          </a:ln>
        </p:spPr>
      </p:sp>
      <p:sp>
        <p:nvSpPr>
          <p:cNvPr id="14" name="Text 10"/>
          <p:cNvSpPr/>
          <p:nvPr/>
        </p:nvSpPr>
        <p:spPr>
          <a:xfrm>
            <a:off x="6010093" y="2597463"/>
            <a:ext cx="1903388"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Agrégateur</a:t>
            </a:r>
            <a:endParaRPr lang="en-US" sz="1800" dirty="0"/>
          </a:p>
        </p:txBody>
      </p:sp>
      <p:sp>
        <p:nvSpPr>
          <p:cNvPr id="15" name="Text 11"/>
          <p:cNvSpPr/>
          <p:nvPr/>
        </p:nvSpPr>
        <p:spPr>
          <a:xfrm>
            <a:off x="6010093" y="2947953"/>
            <a:ext cx="190338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62B"/>
                </a:solidFill>
                <a:latin typeface="JetBrains Mono" pitchFamily="49" charset="0"/>
                <a:ea typeface="JetBrains Mono" pitchFamily="49" charset="-122"/>
                <a:cs typeface="JetBrains Mono" pitchFamily="49" charset="-120"/>
              </a:rPr>
              <a:t>GET /api/v1/dashboard/</a:t>
            </a:r>
            <a:endParaRPr lang="en-US" sz="1200" dirty="0"/>
          </a:p>
          <a:p>
            <a:pPr marL="0" indent="0" algn="l">
              <a:lnSpc>
                <a:spcPts val="1680"/>
              </a:lnSpc>
              <a:buNone/>
            </a:pPr>
            <a:r>
              <a:rPr lang="en-US" sz="1200" dirty="0">
                <a:solidFill>
                  <a:srgbClr val="14262B"/>
                </a:solidFill>
                <a:latin typeface="JetBrains Mono" pitchFamily="49" charset="0"/>
                <a:ea typeface="JetBrains Mono" pitchFamily="49" charset="-122"/>
                <a:cs typeface="JetBrains Mono" pitchFamily="49" charset="-120"/>
              </a:rPr>
              <a:t>structures/{id}</a:t>
            </a:r>
            <a:endParaRPr lang="en-US" sz="1200" dirty="0"/>
          </a:p>
        </p:txBody>
      </p:sp>
      <p:sp>
        <p:nvSpPr>
          <p:cNvPr id="16" name="Text 12"/>
          <p:cNvSpPr/>
          <p:nvPr/>
        </p:nvSpPr>
        <p:spPr>
          <a:xfrm>
            <a:off x="6010093" y="3664065"/>
            <a:ext cx="19033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3 appels en parallèle</a:t>
            </a:r>
            <a:endParaRPr lang="en-US" sz="1200" dirty="0"/>
          </a:p>
        </p:txBody>
      </p:sp>
      <p:pic>
        <p:nvPicPr>
          <p:cNvPr id="17" name="Image 2" descr="arrow-right"/>
          <p:cNvPicPr>
            <a:picLocks noChangeAspect="1"/>
          </p:cNvPicPr>
          <p:nvPr/>
        </p:nvPicPr>
        <p:blipFill>
          <a:blip r:embed="rId3"/>
          <a:srcRect l="-10" r="-10"/>
          <a:stretch/>
        </p:blipFill>
        <p:spPr>
          <a:xfrm>
            <a:off x="8229451" y="3135809"/>
            <a:ext cx="406383" cy="203150"/>
          </a:xfrm>
          <a:prstGeom prst="rect">
            <a:avLst/>
          </a:prstGeom>
        </p:spPr>
      </p:pic>
      <p:sp>
        <p:nvSpPr>
          <p:cNvPr id="18" name="Shape 13"/>
          <p:cNvSpPr/>
          <p:nvPr/>
        </p:nvSpPr>
        <p:spPr>
          <a:xfrm>
            <a:off x="8791393" y="1984160"/>
            <a:ext cx="2584665" cy="763588"/>
          </a:xfrm>
          <a:prstGeom prst="roundRect">
            <a:avLst>
              <a:gd name="adj" fmla="val 9563"/>
            </a:avLst>
          </a:prstGeom>
          <a:solidFill>
            <a:srgbClr val="FFFFFF"/>
          </a:solidFill>
          <a:ln w="6350">
            <a:solidFill>
              <a:srgbClr val="DCE2DE"/>
            </a:solidFill>
            <a:prstDash val="solid"/>
          </a:ln>
        </p:spPr>
      </p:sp>
      <p:sp>
        <p:nvSpPr>
          <p:cNvPr id="19" name="Text 14"/>
          <p:cNvSpPr/>
          <p:nvPr/>
        </p:nvSpPr>
        <p:spPr>
          <a:xfrm>
            <a:off x="8971276" y="2113276"/>
            <a:ext cx="2291645"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272C"/>
                </a:solidFill>
                <a:latin typeface="IBM Plex Sans" pitchFamily="34" charset="0"/>
                <a:ea typeface="IBM Plex Sans" pitchFamily="34" charset="-122"/>
                <a:cs typeface="IBM Plex Sans" pitchFamily="34" charset="-120"/>
              </a:rPr>
              <a:t>Structures</a:t>
            </a:r>
            <a:endParaRPr lang="en-US" sz="1500" dirty="0"/>
          </a:p>
        </p:txBody>
      </p:sp>
      <p:sp>
        <p:nvSpPr>
          <p:cNvPr id="20" name="Text 15"/>
          <p:cNvSpPr/>
          <p:nvPr/>
        </p:nvSpPr>
        <p:spPr>
          <a:xfrm>
            <a:off x="8971276" y="2405311"/>
            <a:ext cx="22916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source principale</a:t>
            </a:r>
            <a:endParaRPr lang="en-US" sz="1200" dirty="0"/>
          </a:p>
        </p:txBody>
      </p:sp>
      <p:sp>
        <p:nvSpPr>
          <p:cNvPr id="21" name="Shape 16"/>
          <p:cNvSpPr/>
          <p:nvPr/>
        </p:nvSpPr>
        <p:spPr>
          <a:xfrm>
            <a:off x="8791393" y="2855630"/>
            <a:ext cx="2584665" cy="763588"/>
          </a:xfrm>
          <a:prstGeom prst="roundRect">
            <a:avLst>
              <a:gd name="adj" fmla="val 9563"/>
            </a:avLst>
          </a:prstGeom>
          <a:solidFill>
            <a:srgbClr val="FFFFFF"/>
          </a:solidFill>
          <a:ln w="6350">
            <a:solidFill>
              <a:srgbClr val="DCE2DE"/>
            </a:solidFill>
            <a:prstDash val="solid"/>
          </a:ln>
        </p:spPr>
      </p:sp>
      <p:sp>
        <p:nvSpPr>
          <p:cNvPr id="22" name="Text 17"/>
          <p:cNvSpPr/>
          <p:nvPr/>
        </p:nvSpPr>
        <p:spPr>
          <a:xfrm>
            <a:off x="8971276" y="2984748"/>
            <a:ext cx="2291645"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272C"/>
                </a:solidFill>
                <a:latin typeface="IBM Plex Sans" pitchFamily="34" charset="0"/>
                <a:ea typeface="IBM Plex Sans" pitchFamily="34" charset="-122"/>
                <a:cs typeface="IBM Plex Sans" pitchFamily="34" charset="-120"/>
              </a:rPr>
              <a:t>Indicateurs</a:t>
            </a:r>
            <a:endParaRPr lang="en-US" sz="1500" dirty="0"/>
          </a:p>
        </p:txBody>
      </p:sp>
      <p:sp>
        <p:nvSpPr>
          <p:cNvPr id="23" name="Text 18"/>
          <p:cNvSpPr/>
          <p:nvPr/>
        </p:nvSpPr>
        <p:spPr>
          <a:xfrm>
            <a:off x="8971276" y="3276781"/>
            <a:ext cx="22916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source secondaire</a:t>
            </a:r>
            <a:endParaRPr lang="en-US" sz="1200" dirty="0"/>
          </a:p>
        </p:txBody>
      </p:sp>
      <p:sp>
        <p:nvSpPr>
          <p:cNvPr id="24" name="Shape 19"/>
          <p:cNvSpPr/>
          <p:nvPr/>
        </p:nvSpPr>
        <p:spPr>
          <a:xfrm>
            <a:off x="8791393" y="3727103"/>
            <a:ext cx="2584665" cy="763588"/>
          </a:xfrm>
          <a:prstGeom prst="roundRect">
            <a:avLst>
              <a:gd name="adj" fmla="val 9563"/>
            </a:avLst>
          </a:prstGeom>
          <a:solidFill>
            <a:srgbClr val="FFFFFF"/>
          </a:solidFill>
          <a:ln w="6350">
            <a:solidFill>
              <a:srgbClr val="DCE2DE"/>
            </a:solidFill>
            <a:prstDash val="solid"/>
          </a:ln>
        </p:spPr>
      </p:sp>
      <p:sp>
        <p:nvSpPr>
          <p:cNvPr id="25" name="Text 20"/>
          <p:cNvSpPr/>
          <p:nvPr/>
        </p:nvSpPr>
        <p:spPr>
          <a:xfrm>
            <a:off x="8971276" y="3856219"/>
            <a:ext cx="2291645" cy="29205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272C"/>
                </a:solidFill>
                <a:latin typeface="IBM Plex Sans" pitchFamily="34" charset="0"/>
                <a:ea typeface="IBM Plex Sans" pitchFamily="34" charset="-122"/>
                <a:cs typeface="IBM Plex Sans" pitchFamily="34" charset="-120"/>
              </a:rPr>
              <a:t>Patients</a:t>
            </a:r>
            <a:endParaRPr lang="en-US" sz="1500" dirty="0"/>
          </a:p>
        </p:txBody>
      </p:sp>
      <p:sp>
        <p:nvSpPr>
          <p:cNvPr id="26" name="Text 21"/>
          <p:cNvSpPr/>
          <p:nvPr/>
        </p:nvSpPr>
        <p:spPr>
          <a:xfrm>
            <a:off x="8971276" y="4148252"/>
            <a:ext cx="22916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source secondaire</a:t>
            </a:r>
            <a:endParaRPr lang="en-US" sz="1200" dirty="0"/>
          </a:p>
        </p:txBody>
      </p:sp>
      <p:sp>
        <p:nvSpPr>
          <p:cNvPr id="27" name="Text 22"/>
          <p:cNvSpPr/>
          <p:nvPr/>
        </p:nvSpPr>
        <p:spPr>
          <a:xfrm>
            <a:off x="812767" y="4849399"/>
            <a:ext cx="10883460"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Les 5 composants tournent en conteneurs Docker (Docker Compose) dans une VM Ubuntu 22.04 créée par Vagrant. Les 3 API sont aussi exposées directement par Kong.</a:t>
            </a:r>
            <a:endParaRPr lang="en-US" sz="1400" dirty="0"/>
          </a:p>
        </p:txBody>
      </p:sp>
      <p:sp>
        <p:nvSpPr>
          <p:cNvPr id="28" name="Text 23"/>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TECHNOLOGIES</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Une brique par rôle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40800"/>
          <a:ext cx="10555882" cy="2935551"/>
        </p:xfrm>
        <a:graphic>
          <a:graphicData uri="http://schemas.openxmlformats.org/drawingml/2006/table">
            <a:tbl>
              <a:tblPr/>
              <a:tblGrid>
                <a:gridCol w="2533412">
                  <a:extLst>
                    <a:ext uri="{9D8B030D-6E8A-4147-A177-3AD203B41FA5}">
                      <a16:colId xmlns:a16="http://schemas.microsoft.com/office/drawing/2014/main" val="20000"/>
                    </a:ext>
                  </a:extLst>
                </a:gridCol>
                <a:gridCol w="4644588">
                  <a:extLst>
                    <a:ext uri="{9D8B030D-6E8A-4147-A177-3AD203B41FA5}">
                      <a16:colId xmlns:a16="http://schemas.microsoft.com/office/drawing/2014/main" val="20001"/>
                    </a:ext>
                  </a:extLst>
                </a:gridCol>
                <a:gridCol w="3377882">
                  <a:extLst>
                    <a:ext uri="{9D8B030D-6E8A-4147-A177-3AD203B41FA5}">
                      <a16:colId xmlns:a16="http://schemas.microsoft.com/office/drawing/2014/main" val="20002"/>
                    </a:ext>
                  </a:extLst>
                </a:gridCol>
              </a:tblGrid>
              <a:tr h="383811">
                <a:tc>
                  <a:txBody>
                    <a:bodyPr/>
                    <a:lstStyle/>
                    <a:p>
                      <a:pPr marL="0" indent="0">
                        <a:lnSpc>
                          <a:spcPts val="1960"/>
                        </a:lnSpc>
                        <a:buNone/>
                      </a:pPr>
                      <a:r>
                        <a:rPr lang="en-US" sz="1400" b="1" dirty="0">
                          <a:solidFill>
                            <a:srgbClr val="14262B"/>
                          </a:solidFill>
                          <a:latin typeface="IBM Plex Sans" pitchFamily="34" charset="0"/>
                          <a:ea typeface="IBM Plex Sans" pitchFamily="34" charset="-122"/>
                          <a:cs typeface="IBM Plex Sans" pitchFamily="34" charset="-120"/>
                        </a:rPr>
                        <a:t>Technologie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1960"/>
                        </a:lnSpc>
                        <a:buNone/>
                      </a:pPr>
                      <a:r>
                        <a:rPr lang="en-US" sz="1400" b="1" dirty="0">
                          <a:solidFill>
                            <a:srgbClr val="14262B"/>
                          </a:solidFill>
                          <a:latin typeface="IBM Plex Sans" pitchFamily="34" charset="0"/>
                          <a:ea typeface="IBM Plex Sans" pitchFamily="34" charset="-122"/>
                          <a:cs typeface="IBM Plex Sans" pitchFamily="34" charset="-120"/>
                        </a:rPr>
                        <a:t>Rôle dans le projet</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1960"/>
                        </a:lnSpc>
                        <a:buNone/>
                      </a:pPr>
                      <a:r>
                        <a:rPr lang="en-US" sz="1400" b="1" dirty="0">
                          <a:solidFill>
                            <a:srgbClr val="14262B"/>
                          </a:solidFill>
                          <a:latin typeface="IBM Plex Sans" pitchFamily="34" charset="0"/>
                          <a:ea typeface="IBM Plex Sans" pitchFamily="34" charset="-122"/>
                          <a:cs typeface="IBM Plex Sans" pitchFamily="34" charset="-120"/>
                        </a:rPr>
                        <a:t>En une image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extLst>
                  <a:ext uri="{0D108BD9-81ED-4DB2-BD59-A6C34878D82A}">
                    <a16:rowId xmlns:a16="http://schemas.microsoft.com/office/drawing/2014/main" val="10000"/>
                  </a:ext>
                </a:extLst>
              </a:tr>
              <a:tr h="383811">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Python + FastAPI</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Écrit les 3 API et l’agrégateur, Swagger sur /docs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Le métier de chaque guichet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1"/>
                  </a:ext>
                </a:extLst>
              </a:tr>
              <a:tr h="383811">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httpx asynchrone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Appelle les 3 API en même temps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Trois coursiers au lieu d’un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2"/>
                  </a:ext>
                </a:extLst>
              </a:tr>
              <a:tr h="383811">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Kong (DB-less)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Porte d’entrée : routes, corrélation, journaux, quotas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L’accueil de l’hôpital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3"/>
                  </a:ext>
                </a:extLst>
              </a:tr>
              <a:tr h="383811">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Docker Compose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5 conteneurs lancés et reliés en une commande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Des boîtes standard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4"/>
                  </a:ext>
                </a:extLst>
              </a:tr>
              <a:tr h="383811">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Vagrant + VirtualBox</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VM Ubuntu 22.04 identique chez tous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Le camion qui les porte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5"/>
                  </a:ext>
                </a:extLst>
              </a:tr>
              <a:tr h="632685">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pytest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28 tests unitaires + script de bout en bout, rejoués par GitHub Actions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960"/>
                        </a:lnSpc>
                        <a:buNone/>
                      </a:pPr>
                      <a:r>
                        <a:rPr lang="en-US" sz="1400" dirty="0">
                          <a:solidFill>
                            <a:srgbClr val="14262B"/>
                          </a:solidFill>
                          <a:latin typeface="IBM Plex Sans" pitchFamily="34" charset="0"/>
                          <a:ea typeface="IBM Plex Sans" pitchFamily="34" charset="-122"/>
                          <a:cs typeface="IBM Plex Sans" pitchFamily="34" charset="-120"/>
                        </a:rPr>
                        <a:t>Le contrôle qualité</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1 · TROIS API INDÉPENDANTES</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Chacune ses données, son conteneur, son métier</a:t>
            </a:r>
            <a:endParaRPr lang="en-US" sz="3200" dirty="0"/>
          </a:p>
        </p:txBody>
      </p:sp>
      <p:sp>
        <p:nvSpPr>
          <p:cNvPr id="4" name="Shape 2"/>
          <p:cNvSpPr/>
          <p:nvPr/>
        </p:nvSpPr>
        <p:spPr>
          <a:xfrm>
            <a:off x="815942" y="1933392"/>
            <a:ext cx="3380317" cy="1974883"/>
          </a:xfrm>
          <a:prstGeom prst="roundRect">
            <a:avLst>
              <a:gd name="adj" fmla="val 4984"/>
            </a:avLst>
          </a:prstGeom>
          <a:solidFill>
            <a:srgbClr val="FFFFFF"/>
          </a:solidFill>
          <a:ln w="6350">
            <a:solidFill>
              <a:srgbClr val="DCE2DE"/>
            </a:solidFill>
            <a:prstDash val="solid"/>
          </a:ln>
        </p:spPr>
      </p:sp>
      <p:sp>
        <p:nvSpPr>
          <p:cNvPr id="5" name="Text 3"/>
          <p:cNvSpPr/>
          <p:nvPr/>
        </p:nvSpPr>
        <p:spPr>
          <a:xfrm>
            <a:off x="1072059" y="2189510"/>
            <a:ext cx="2954126"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Structures</a:t>
            </a:r>
            <a:endParaRPr lang="en-US" sz="2000" dirty="0"/>
          </a:p>
        </p:txBody>
      </p:sp>
      <p:sp>
        <p:nvSpPr>
          <p:cNvPr id="6" name="Text 4"/>
          <p:cNvSpPr/>
          <p:nvPr/>
        </p:nvSpPr>
        <p:spPr>
          <a:xfrm>
            <a:off x="1072059" y="2595811"/>
            <a:ext cx="2954126" cy="48246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/api/v1/structures</a:t>
            </a:r>
            <a:endParaRPr lang="en-US" sz="1200" dirty="0"/>
          </a:p>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/api/v1/structures/{id}</a:t>
            </a:r>
            <a:endParaRPr lang="en-US" sz="1200" dirty="0"/>
          </a:p>
        </p:txBody>
      </p:sp>
      <p:sp>
        <p:nvSpPr>
          <p:cNvPr id="7" name="Text 5"/>
          <p:cNvSpPr/>
          <p:nvPr/>
        </p:nvSpPr>
        <p:spPr>
          <a:xfrm>
            <a:off x="1072059" y="3154412"/>
            <a:ext cx="2954126"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B"/>
                </a:solidFill>
                <a:latin typeface="IBM Plex Sans" pitchFamily="34" charset="0"/>
                <a:ea typeface="IBM Plex Sans" pitchFamily="34" charset="-122"/>
                <a:cs typeface="IBM Plex Sans" pitchFamily="34" charset="-120"/>
              </a:rPr>
              <a:t>5 structures : CHU Yalgado, CHR Koudougou, CMA Pissy, 2 CSPS</a:t>
            </a:r>
            <a:endParaRPr lang="en-US" sz="1400" dirty="0"/>
          </a:p>
        </p:txBody>
      </p:sp>
      <p:sp>
        <p:nvSpPr>
          <p:cNvPr id="8" name="Shape 6"/>
          <p:cNvSpPr/>
          <p:nvPr/>
        </p:nvSpPr>
        <p:spPr>
          <a:xfrm>
            <a:off x="4405759" y="1933392"/>
            <a:ext cx="3380399" cy="1974883"/>
          </a:xfrm>
          <a:prstGeom prst="roundRect">
            <a:avLst>
              <a:gd name="adj" fmla="val 4984"/>
            </a:avLst>
          </a:prstGeom>
          <a:solidFill>
            <a:srgbClr val="FFFFFF"/>
          </a:solidFill>
          <a:ln w="6350">
            <a:solidFill>
              <a:srgbClr val="DCE2DE"/>
            </a:solidFill>
            <a:prstDash val="solid"/>
          </a:ln>
        </p:spPr>
      </p:sp>
      <p:sp>
        <p:nvSpPr>
          <p:cNvPr id="9" name="Text 7"/>
          <p:cNvSpPr/>
          <p:nvPr/>
        </p:nvSpPr>
        <p:spPr>
          <a:xfrm>
            <a:off x="4661876" y="2189510"/>
            <a:ext cx="2954211"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Patients fictifs</a:t>
            </a:r>
            <a:endParaRPr lang="en-US" sz="2000" dirty="0"/>
          </a:p>
        </p:txBody>
      </p:sp>
      <p:sp>
        <p:nvSpPr>
          <p:cNvPr id="10" name="Text 8"/>
          <p:cNvSpPr/>
          <p:nvPr/>
        </p:nvSpPr>
        <p:spPr>
          <a:xfrm>
            <a:off x="4661876" y="2595811"/>
            <a:ext cx="2954211" cy="48246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/api/v1/patients</a:t>
            </a:r>
            <a:endParaRPr lang="en-US" sz="1200" dirty="0"/>
          </a:p>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/api/v1/patients/stats</a:t>
            </a:r>
            <a:endParaRPr lang="en-US" sz="1200" dirty="0"/>
          </a:p>
        </p:txBody>
      </p:sp>
      <p:sp>
        <p:nvSpPr>
          <p:cNvPr id="11" name="Text 9"/>
          <p:cNvSpPr/>
          <p:nvPr/>
        </p:nvSpPr>
        <p:spPr>
          <a:xfrm>
            <a:off x="4661876" y="3154412"/>
            <a:ext cx="2954211"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B"/>
                </a:solidFill>
                <a:latin typeface="IBM Plex Sans" pitchFamily="34" charset="0"/>
                <a:ea typeface="IBM Plex Sans" pitchFamily="34" charset="-122"/>
                <a:cs typeface="IBM Plex Sans" pitchFamily="34" charset="-120"/>
              </a:rPr>
              <a:t>58 patients générés par script, graine fixe</a:t>
            </a:r>
            <a:endParaRPr lang="en-US" sz="1400" dirty="0"/>
          </a:p>
        </p:txBody>
      </p:sp>
      <p:sp>
        <p:nvSpPr>
          <p:cNvPr id="12" name="Shape 10"/>
          <p:cNvSpPr/>
          <p:nvPr/>
        </p:nvSpPr>
        <p:spPr>
          <a:xfrm>
            <a:off x="7995658" y="1933392"/>
            <a:ext cx="3380399" cy="1974883"/>
          </a:xfrm>
          <a:prstGeom prst="roundRect">
            <a:avLst>
              <a:gd name="adj" fmla="val 4984"/>
            </a:avLst>
          </a:prstGeom>
          <a:solidFill>
            <a:srgbClr val="FFFFFF"/>
          </a:solidFill>
          <a:ln w="6350">
            <a:solidFill>
              <a:srgbClr val="DCE2DE"/>
            </a:solidFill>
            <a:prstDash val="solid"/>
          </a:ln>
        </p:spPr>
      </p:sp>
      <p:sp>
        <p:nvSpPr>
          <p:cNvPr id="13" name="Text 11"/>
          <p:cNvSpPr/>
          <p:nvPr/>
        </p:nvSpPr>
        <p:spPr>
          <a:xfrm>
            <a:off x="8251775" y="2189510"/>
            <a:ext cx="2954211" cy="33016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72C"/>
                </a:solidFill>
                <a:latin typeface="IBM Plex Sans" pitchFamily="34" charset="0"/>
                <a:ea typeface="IBM Plex Sans" pitchFamily="34" charset="-122"/>
                <a:cs typeface="IBM Plex Sans" pitchFamily="34" charset="-120"/>
              </a:rPr>
              <a:t>Indicateurs</a:t>
            </a:r>
            <a:endParaRPr lang="en-US" sz="2000" dirty="0"/>
          </a:p>
        </p:txBody>
      </p:sp>
      <p:sp>
        <p:nvSpPr>
          <p:cNvPr id="14" name="Text 12"/>
          <p:cNvSpPr/>
          <p:nvPr/>
        </p:nvSpPr>
        <p:spPr>
          <a:xfrm>
            <a:off x="8251775" y="2595811"/>
            <a:ext cx="2954211" cy="482468"/>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/api/v1/indicateurs/</a:t>
            </a:r>
            <a:endParaRPr lang="en-US" sz="1200" dirty="0"/>
          </a:p>
          <a:p>
            <a:pPr marL="0" indent="0" algn="l">
              <a:lnSpc>
                <a:spcPts val="1800"/>
              </a:lnSpc>
              <a:buNone/>
            </a:pPr>
            <a:r>
              <a:rPr lang="en-US" sz="1200" dirty="0">
                <a:solidFill>
                  <a:srgbClr val="4A5A5D"/>
                </a:solidFill>
                <a:latin typeface="JetBrains Mono" pitchFamily="49" charset="0"/>
                <a:ea typeface="JetBrains Mono" pitchFamily="49" charset="-122"/>
                <a:cs typeface="JetBrains Mono" pitchFamily="49" charset="-120"/>
              </a:rPr>
              <a:t>structures/{id}</a:t>
            </a:r>
            <a:endParaRPr lang="en-US" sz="1200" dirty="0"/>
          </a:p>
        </p:txBody>
      </p:sp>
      <p:sp>
        <p:nvSpPr>
          <p:cNvPr id="15" name="Text 13"/>
          <p:cNvSpPr/>
          <p:nvPr/>
        </p:nvSpPr>
        <p:spPr>
          <a:xfrm>
            <a:off x="8251775" y="3154412"/>
            <a:ext cx="2954211"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62B"/>
                </a:solidFill>
                <a:latin typeface="IBM Plex Sans" pitchFamily="34" charset="0"/>
                <a:ea typeface="IBM Plex Sans" pitchFamily="34" charset="-122"/>
                <a:cs typeface="IBM Plex Sans" pitchFamily="34" charset="-120"/>
              </a:rPr>
              <a:t>Août et septembre 2026, structures 1 à 4</a:t>
            </a:r>
            <a:endParaRPr lang="en-US" sz="1400" dirty="0"/>
          </a:p>
        </p:txBody>
      </p:sp>
      <p:sp>
        <p:nvSpPr>
          <p:cNvPr id="16" name="Text 14"/>
          <p:cNvSpPr/>
          <p:nvPr/>
        </p:nvSpPr>
        <p:spPr>
          <a:xfrm>
            <a:off x="812767" y="4216217"/>
            <a:ext cx="10883460"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0272C"/>
                </a:solidFill>
                <a:latin typeface="IBM Plex Sans" pitchFamily="34" charset="0"/>
                <a:ea typeface="IBM Plex Sans" pitchFamily="34" charset="-122"/>
                <a:cs typeface="IBM Plex Sans" pitchFamily="34" charset="-120"/>
              </a:rPr>
              <a:t>Cas plantés pour la démo : </a:t>
            </a:r>
            <a:r>
              <a:rPr lang="en-US" sz="1500" b="1" dirty="0">
                <a:solidFill>
                  <a:srgbClr val="10272C"/>
                </a:solidFill>
                <a:latin typeface="IBM Plex Sans" pitchFamily="34" charset="0"/>
                <a:ea typeface="IBM Plex Sans" pitchFamily="34" charset="-122"/>
                <a:cs typeface="IBM Plex Sans" pitchFamily="34" charset="-120"/>
              </a:rPr>
              <a:t>structure 4</a:t>
            </a:r>
            <a:r>
              <a:rPr lang="en-US" sz="1500" dirty="0">
                <a:solidFill>
                  <a:srgbClr val="10272C"/>
                </a:solidFill>
                <a:latin typeface="IBM Plex Sans" pitchFamily="34" charset="0"/>
                <a:ea typeface="IBM Plex Sans" pitchFamily="34" charset="-122"/>
                <a:cs typeface="IBM Plex Sans" pitchFamily="34" charset="-120"/>
              </a:rPr>
              <a:t> a 0 décès et un taux d’occupation </a:t>
            </a:r>
            <a:r>
              <a:rPr lang="en-US" sz="1500" dirty="0">
                <a:solidFill>
                  <a:srgbClr val="B3561A"/>
                </a:solidFill>
                <a:latin typeface="IBM Plex Sans" pitchFamily="34" charset="0"/>
                <a:ea typeface="IBM Plex Sans" pitchFamily="34" charset="-122"/>
                <a:cs typeface="IBM Plex Sans" pitchFamily="34" charset="-120"/>
              </a:rPr>
              <a:t>null « non applicable »</a:t>
            </a:r>
            <a:r>
              <a:rPr lang="en-US" sz="1500" dirty="0">
                <a:solidFill>
                  <a:srgbClr val="10272C"/>
                </a:solidFill>
                <a:latin typeface="IBM Plex Sans" pitchFamily="34" charset="0"/>
                <a:ea typeface="IBM Plex Sans" pitchFamily="34" charset="-122"/>
                <a:cs typeface="IBM Plex Sans" pitchFamily="34" charset="-120"/>
              </a:rPr>
              <a:t> ; </a:t>
            </a:r>
            <a:r>
              <a:rPr lang="en-US" sz="1500" b="1" dirty="0">
                <a:solidFill>
                  <a:srgbClr val="10272C"/>
                </a:solidFill>
                <a:latin typeface="IBM Plex Sans" pitchFamily="34" charset="0"/>
                <a:ea typeface="IBM Plex Sans" pitchFamily="34" charset="-122"/>
                <a:cs typeface="IBM Plex Sans" pitchFamily="34" charset="-120"/>
              </a:rPr>
              <a:t>structure 5</a:t>
            </a:r>
            <a:r>
              <a:rPr lang="en-US" sz="1500" dirty="0">
                <a:solidFill>
                  <a:srgbClr val="10272C"/>
                </a:solidFill>
                <a:latin typeface="IBM Plex Sans" pitchFamily="34" charset="0"/>
                <a:ea typeface="IBM Plex Sans" pitchFamily="34" charset="-122"/>
                <a:cs typeface="IBM Plex Sans" pitchFamily="34" charset="-120"/>
              </a:rPr>
              <a:t> n’a ni patient ni indicateur.</a:t>
            </a:r>
            <a:endParaRPr lang="en-US" sz="1500" dirty="0"/>
          </a:p>
        </p:txBody>
      </p:sp>
      <p:sp>
        <p:nvSpPr>
          <p:cNvPr id="17" name="Text 15"/>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2 · LE COMPOSANT D’AGRÉGATION</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Trois appels lancés ensemble, une réponse</a:t>
            </a:r>
            <a:endParaRPr lang="en-US" sz="3200" dirty="0"/>
          </a:p>
        </p:txBody>
      </p:sp>
      <p:sp>
        <p:nvSpPr>
          <p:cNvPr id="4" name="Text 2"/>
          <p:cNvSpPr/>
          <p:nvPr/>
        </p:nvSpPr>
        <p:spPr>
          <a:xfrm>
            <a:off x="855596" y="1930217"/>
            <a:ext cx="6228431" cy="1454150"/>
          </a:xfrm>
          <a:prstGeom prst="rect">
            <a:avLst/>
          </a:prstGeom>
          <a:noFill/>
          <a:ln/>
        </p:spPr>
        <p:txBody>
          <a:bodyPr wrap="square" lIns="0" tIns="0" rIns="0" bIns="0" rtlCol="0" anchor="t">
            <a:normAutofit/>
          </a:bodyPr>
          <a:lstStyle/>
          <a:p>
            <a:pPr marL="211171" indent="-211171" algn="l">
              <a:lnSpc>
                <a:spcPts val="2250"/>
              </a:lnSpc>
              <a:buSzPct val="100000"/>
              <a:buFontTx/>
              <a:buAutoNum type="arabicPeriod"/>
            </a:pPr>
            <a:r>
              <a:rPr lang="en-US" sz="1500" dirty="0">
                <a:solidFill>
                  <a:srgbClr val="14262B"/>
                </a:solidFill>
                <a:latin typeface="IBM Plex Sans" pitchFamily="34" charset="0"/>
                <a:ea typeface="IBM Plex Sans" pitchFamily="34" charset="-122"/>
                <a:cs typeface="IBM Plex Sans" pitchFamily="34" charset="-120"/>
              </a:rPr>
              <a:t>Lire X-Correlation-ID posé par Kong</a:t>
            </a:r>
            <a:endParaRPr lang="en-US" sz="1500" dirty="0"/>
          </a:p>
          <a:p>
            <a:pPr marL="211171" indent="-211171" algn="l">
              <a:lnSpc>
                <a:spcPts val="2250"/>
              </a:lnSpc>
              <a:buSzPct val="100000"/>
              <a:buFontTx/>
              <a:buAutoNum type="arabicPeriod"/>
            </a:pPr>
            <a:r>
              <a:rPr lang="en-US" sz="1500" dirty="0">
                <a:solidFill>
                  <a:srgbClr val="14262B"/>
                </a:solidFill>
                <a:latin typeface="IBM Plex Sans" pitchFamily="34" charset="0"/>
                <a:ea typeface="IBM Plex Sans" pitchFamily="34" charset="-122"/>
                <a:cs typeface="IBM Plex Sans" pitchFamily="34" charset="-120"/>
              </a:rPr>
              <a:t>Lancer les 3 appels avec asyncio.create_task</a:t>
            </a:r>
            <a:endParaRPr lang="en-US" sz="1500" dirty="0"/>
          </a:p>
          <a:p>
            <a:pPr marL="211171" indent="-211171" algn="l">
              <a:lnSpc>
                <a:spcPts val="2250"/>
              </a:lnSpc>
              <a:buSzPct val="100000"/>
              <a:buFontTx/>
              <a:buAutoNum type="arabicPeriod"/>
            </a:pPr>
            <a:r>
              <a:rPr lang="en-US" sz="1500" dirty="0">
                <a:solidFill>
                  <a:srgbClr val="14262B"/>
                </a:solidFill>
                <a:latin typeface="IBM Plex Sans" pitchFamily="34" charset="0"/>
                <a:ea typeface="IBM Plex Sans" pitchFamily="34" charset="-122"/>
                <a:cs typeface="IBM Plex Sans" pitchFamily="34" charset="-120"/>
              </a:rPr>
              <a:t>Traduire chaque issue en un statut, sans exception</a:t>
            </a:r>
            <a:endParaRPr lang="en-US" sz="1500" dirty="0"/>
          </a:p>
          <a:p>
            <a:pPr marL="211171" indent="-211171" algn="l">
              <a:lnSpc>
                <a:spcPts val="2250"/>
              </a:lnSpc>
              <a:buSzPct val="100000"/>
              <a:buFontTx/>
              <a:buAutoNum type="arabicPeriod"/>
            </a:pPr>
            <a:r>
              <a:rPr lang="en-US" sz="1500" dirty="0">
                <a:solidFill>
                  <a:srgbClr val="14262B"/>
                </a:solidFill>
                <a:latin typeface="IBM Plex Sans" pitchFamily="34" charset="0"/>
                <a:ea typeface="IBM Plex Sans" pitchFamily="34" charset="-122"/>
                <a:cs typeface="IBM Plex Sans" pitchFamily="34" charset="-120"/>
              </a:rPr>
              <a:t>Attendre au plus 3 s, annuler le reste</a:t>
            </a:r>
            <a:endParaRPr lang="en-US" sz="1500" dirty="0"/>
          </a:p>
          <a:p>
            <a:pPr marL="211171" indent="-211171" algn="l">
              <a:lnSpc>
                <a:spcPts val="2250"/>
              </a:lnSpc>
              <a:buSzPct val="100000"/>
              <a:buFontTx/>
              <a:buAutoNum type="arabicPeriod"/>
            </a:pPr>
            <a:r>
              <a:rPr lang="en-US" sz="1500" dirty="0">
                <a:solidFill>
                  <a:srgbClr val="14262B"/>
                </a:solidFill>
                <a:latin typeface="IBM Plex Sans" pitchFamily="34" charset="0"/>
                <a:ea typeface="IBM Plex Sans" pitchFamily="34" charset="-122"/>
                <a:cs typeface="IBM Plex Sans" pitchFamily="34" charset="-120"/>
              </a:rPr>
              <a:t>Composer la réponse, choisir le code HTTP, journaliser</a:t>
            </a:r>
            <a:endParaRPr lang="en-US" sz="1500" dirty="0"/>
          </a:p>
        </p:txBody>
      </p:sp>
      <p:sp>
        <p:nvSpPr>
          <p:cNvPr id="5" name="Shape 3"/>
          <p:cNvSpPr/>
          <p:nvPr/>
        </p:nvSpPr>
        <p:spPr>
          <a:xfrm>
            <a:off x="7315150" y="1930217"/>
            <a:ext cx="4064083" cy="2118072"/>
          </a:xfrm>
          <a:prstGeom prst="roundRect">
            <a:avLst>
              <a:gd name="adj" fmla="val 4797"/>
            </a:avLst>
          </a:prstGeom>
          <a:solidFill>
            <a:srgbClr val="10272C"/>
          </a:solidFill>
          <a:ln/>
        </p:spPr>
      </p:sp>
      <p:sp>
        <p:nvSpPr>
          <p:cNvPr id="6" name="Text 4"/>
          <p:cNvSpPr/>
          <p:nvPr/>
        </p:nvSpPr>
        <p:spPr>
          <a:xfrm>
            <a:off x="7619917" y="2234983"/>
            <a:ext cx="3558185" cy="635017"/>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0A35E"/>
                </a:solidFill>
                <a:latin typeface="IBM Plex Sans" pitchFamily="34" charset="0"/>
                <a:ea typeface="IBM Plex Sans" pitchFamily="34" charset="-122"/>
                <a:cs typeface="IBM Plex Sans" pitchFamily="34" charset="-120"/>
              </a:rPr>
              <a:t>0,3 s</a:t>
            </a:r>
            <a:endParaRPr lang="en-US" sz="4800" dirty="0"/>
          </a:p>
        </p:txBody>
      </p:sp>
      <p:sp>
        <p:nvSpPr>
          <p:cNvPr id="7" name="Text 5"/>
          <p:cNvSpPr/>
          <p:nvPr/>
        </p:nvSpPr>
        <p:spPr>
          <a:xfrm>
            <a:off x="7619917" y="2920752"/>
            <a:ext cx="3558185"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5F0"/>
                </a:solidFill>
                <a:latin typeface="IBM Plex Sans" pitchFamily="34" charset="0"/>
                <a:ea typeface="IBM Plex Sans" pitchFamily="34" charset="-122"/>
                <a:cs typeface="IBM Plex Sans" pitchFamily="34" charset="-120"/>
              </a:rPr>
              <a:t>si chaque API met 0,3 s : la durée du plus lent, pas la somme (0,9 s)</a:t>
            </a:r>
            <a:endParaRPr lang="en-US" sz="1500" dirty="0"/>
          </a:p>
        </p:txBody>
      </p:sp>
      <p:sp>
        <p:nvSpPr>
          <p:cNvPr id="8" name="Text 6"/>
          <p:cNvSpPr/>
          <p:nvPr/>
        </p:nvSpPr>
        <p:spPr>
          <a:xfrm>
            <a:off x="7619917" y="3530203"/>
            <a:ext cx="355818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vérifié par test_appels_en_parallele</a:t>
            </a:r>
            <a:endParaRPr lang="en-US" sz="1200" dirty="0"/>
          </a:p>
        </p:txBody>
      </p:sp>
      <p:sp>
        <p:nvSpPr>
          <p:cNvPr id="9" name="Text 7"/>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3 · KONG</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Un fichier YAML décrit toute la passerelle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40800"/>
          <a:ext cx="6212417" cy="1785525"/>
        </p:xfrm>
        <a:graphic>
          <a:graphicData uri="http://schemas.openxmlformats.org/drawingml/2006/table">
            <a:tbl>
              <a:tblPr/>
              <a:tblGrid>
                <a:gridCol w="2609215">
                  <a:extLst>
                    <a:ext uri="{9D8B030D-6E8A-4147-A177-3AD203B41FA5}">
                      <a16:colId xmlns:a16="http://schemas.microsoft.com/office/drawing/2014/main" val="20000"/>
                    </a:ext>
                  </a:extLst>
                </a:gridCol>
                <a:gridCol w="1863725">
                  <a:extLst>
                    <a:ext uri="{9D8B030D-6E8A-4147-A177-3AD203B41FA5}">
                      <a16:colId xmlns:a16="http://schemas.microsoft.com/office/drawing/2014/main" val="20001"/>
                    </a:ext>
                  </a:extLst>
                </a:gridCol>
                <a:gridCol w="1739477">
                  <a:extLst>
                    <a:ext uri="{9D8B030D-6E8A-4147-A177-3AD203B41FA5}">
                      <a16:colId xmlns:a16="http://schemas.microsoft.com/office/drawing/2014/main" val="20002"/>
                    </a:ext>
                  </a:extLst>
                </a:gridCol>
              </a:tblGrid>
              <a:tr h="357105">
                <a:tc>
                  <a:txBody>
                    <a:bodyPr/>
                    <a:lstStyle/>
                    <a:p>
                      <a:pPr marL="0" indent="0">
                        <a:lnSpc>
                          <a:spcPts val="1820"/>
                        </a:lnSpc>
                        <a:buNone/>
                      </a:pPr>
                      <a:r>
                        <a:rPr lang="en-US" sz="1300" b="1" dirty="0">
                          <a:solidFill>
                            <a:srgbClr val="14262B"/>
                          </a:solidFill>
                          <a:latin typeface="IBM Plex Sans" pitchFamily="34" charset="0"/>
                          <a:ea typeface="IBM Plex Sans" pitchFamily="34" charset="-122"/>
                          <a:cs typeface="IBM Plex Sans" pitchFamily="34" charset="-120"/>
                        </a:rPr>
                        <a:t>Chemin public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1820"/>
                        </a:lnSpc>
                        <a:buNone/>
                      </a:pPr>
                      <a:r>
                        <a:rPr lang="en-US" sz="1300" b="1" dirty="0">
                          <a:solidFill>
                            <a:srgbClr val="14262B"/>
                          </a:solidFill>
                          <a:latin typeface="IBM Plex Sans" pitchFamily="34" charset="0"/>
                          <a:ea typeface="IBM Plex Sans" pitchFamily="34" charset="-122"/>
                          <a:cs typeface="IBM Plex Sans" pitchFamily="34" charset="-120"/>
                        </a:rPr>
                        <a:t>Service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1820"/>
                        </a:lnSpc>
                        <a:buNone/>
                      </a:pPr>
                      <a:r>
                        <a:rPr lang="en-US" sz="1300" b="1" dirty="0">
                          <a:solidFill>
                            <a:srgbClr val="14262B"/>
                          </a:solidFill>
                          <a:latin typeface="IBM Plex Sans" pitchFamily="34" charset="0"/>
                          <a:ea typeface="IBM Plex Sans" pitchFamily="34" charset="-122"/>
                          <a:cs typeface="IBM Plex Sans" pitchFamily="34" charset="-120"/>
                        </a:rPr>
                        <a:t>read_timeout</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extLst>
                  <a:ext uri="{0D108BD9-81ED-4DB2-BD59-A6C34878D82A}">
                    <a16:rowId xmlns:a16="http://schemas.microsoft.com/office/drawing/2014/main" val="10000"/>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/api/v1/dashboard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aggregator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5 s, 0 retry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1"/>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/api/v1/structures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structures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3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2"/>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/api/v1/patients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patients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3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3"/>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/api/v1/indicateurs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indicateurs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3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43708" y="1933392"/>
            <a:ext cx="4032349" cy="854951"/>
          </a:xfrm>
          <a:prstGeom prst="roundRect">
            <a:avLst>
              <a:gd name="adj" fmla="val 8541"/>
            </a:avLst>
          </a:prstGeom>
          <a:solidFill>
            <a:srgbClr val="FFFFFF"/>
          </a:solidFill>
          <a:ln w="6350">
            <a:solidFill>
              <a:srgbClr val="DCE2DE"/>
            </a:solidFill>
            <a:prstDash val="solid"/>
          </a:ln>
        </p:spPr>
      </p:sp>
      <p:sp>
        <p:nvSpPr>
          <p:cNvPr id="6" name="Text 3"/>
          <p:cNvSpPr/>
          <p:nvPr/>
        </p:nvSpPr>
        <p:spPr>
          <a:xfrm>
            <a:off x="7523592" y="2113276"/>
            <a:ext cx="3782759" cy="25649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72C"/>
                </a:solidFill>
                <a:latin typeface="JetBrains Mono" pitchFamily="49" charset="0"/>
                <a:ea typeface="JetBrains Mono" pitchFamily="49" charset="-122"/>
                <a:cs typeface="JetBrains Mono" pitchFamily="49" charset="-120"/>
              </a:rPr>
              <a:t>correlation-id</a:t>
            </a:r>
            <a:endParaRPr lang="en-US" sz="1300" dirty="0"/>
          </a:p>
        </p:txBody>
      </p:sp>
      <p:sp>
        <p:nvSpPr>
          <p:cNvPr id="7" name="Text 4"/>
          <p:cNvSpPr/>
          <p:nvPr/>
        </p:nvSpPr>
        <p:spPr>
          <a:xfrm>
            <a:off x="7523592" y="2395141"/>
            <a:ext cx="37827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crée l’UUID, le renvoie au client</a:t>
            </a:r>
            <a:endParaRPr lang="en-US" sz="1200" dirty="0"/>
          </a:p>
        </p:txBody>
      </p:sp>
      <p:sp>
        <p:nvSpPr>
          <p:cNvPr id="8" name="Shape 5"/>
          <p:cNvSpPr/>
          <p:nvPr/>
        </p:nvSpPr>
        <p:spPr>
          <a:xfrm>
            <a:off x="7343708" y="2921695"/>
            <a:ext cx="4032349" cy="854951"/>
          </a:xfrm>
          <a:prstGeom prst="roundRect">
            <a:avLst>
              <a:gd name="adj" fmla="val 8541"/>
            </a:avLst>
          </a:prstGeom>
          <a:solidFill>
            <a:srgbClr val="FFFFFF"/>
          </a:solidFill>
          <a:ln w="6350">
            <a:solidFill>
              <a:srgbClr val="DCE2DE"/>
            </a:solidFill>
            <a:prstDash val="solid"/>
          </a:ln>
        </p:spPr>
      </p:sp>
      <p:sp>
        <p:nvSpPr>
          <p:cNvPr id="9" name="Text 6"/>
          <p:cNvSpPr/>
          <p:nvPr/>
        </p:nvSpPr>
        <p:spPr>
          <a:xfrm>
            <a:off x="7523592" y="3101578"/>
            <a:ext cx="3782759" cy="25649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72C"/>
                </a:solidFill>
                <a:latin typeface="JetBrains Mono" pitchFamily="49" charset="0"/>
                <a:ea typeface="JetBrains Mono" pitchFamily="49" charset="-122"/>
                <a:cs typeface="JetBrains Mono" pitchFamily="49" charset="-120"/>
              </a:rPr>
              <a:t>file-log</a:t>
            </a:r>
            <a:endParaRPr lang="en-US" sz="1300" dirty="0"/>
          </a:p>
        </p:txBody>
      </p:sp>
      <p:sp>
        <p:nvSpPr>
          <p:cNvPr id="10" name="Text 7"/>
          <p:cNvSpPr/>
          <p:nvPr/>
        </p:nvSpPr>
        <p:spPr>
          <a:xfrm>
            <a:off x="7523592" y="3383440"/>
            <a:ext cx="37827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une ligne JSON par requête</a:t>
            </a:r>
            <a:endParaRPr lang="en-US" sz="1200" dirty="0"/>
          </a:p>
        </p:txBody>
      </p:sp>
      <p:sp>
        <p:nvSpPr>
          <p:cNvPr id="11" name="Shape 8"/>
          <p:cNvSpPr/>
          <p:nvPr/>
        </p:nvSpPr>
        <p:spPr>
          <a:xfrm>
            <a:off x="7343708" y="3909994"/>
            <a:ext cx="4032349" cy="854951"/>
          </a:xfrm>
          <a:prstGeom prst="roundRect">
            <a:avLst>
              <a:gd name="adj" fmla="val 8541"/>
            </a:avLst>
          </a:prstGeom>
          <a:solidFill>
            <a:srgbClr val="FFFFFF"/>
          </a:solidFill>
          <a:ln w="6350">
            <a:solidFill>
              <a:srgbClr val="DCE2DE"/>
            </a:solidFill>
            <a:prstDash val="solid"/>
          </a:ln>
        </p:spPr>
      </p:sp>
      <p:sp>
        <p:nvSpPr>
          <p:cNvPr id="12" name="Text 9"/>
          <p:cNvSpPr/>
          <p:nvPr/>
        </p:nvSpPr>
        <p:spPr>
          <a:xfrm>
            <a:off x="7523592" y="4089877"/>
            <a:ext cx="3782759" cy="25649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72C"/>
                </a:solidFill>
                <a:latin typeface="JetBrains Mono" pitchFamily="49" charset="0"/>
                <a:ea typeface="JetBrains Mono" pitchFamily="49" charset="-122"/>
                <a:cs typeface="JetBrains Mono" pitchFamily="49" charset="-120"/>
              </a:rPr>
              <a:t>rate-limiting</a:t>
            </a:r>
            <a:endParaRPr lang="en-US" sz="1300" dirty="0"/>
          </a:p>
        </p:txBody>
      </p:sp>
      <p:sp>
        <p:nvSpPr>
          <p:cNvPr id="13" name="Text 10"/>
          <p:cNvSpPr/>
          <p:nvPr/>
        </p:nvSpPr>
        <p:spPr>
          <a:xfrm>
            <a:off x="7523592" y="4371742"/>
            <a:ext cx="37827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D"/>
                </a:solidFill>
                <a:latin typeface="IBM Plex Sans" pitchFamily="34" charset="0"/>
                <a:ea typeface="IBM Plex Sans" pitchFamily="34" charset="-122"/>
                <a:cs typeface="IBM Plex Sans" pitchFamily="34" charset="-120"/>
              </a:rPr>
              <a:t>120 requêtes/min sur le dashboard</a:t>
            </a:r>
            <a:endParaRPr lang="en-US" sz="1200" dirty="0"/>
          </a:p>
        </p:txBody>
      </p:sp>
      <p:sp>
        <p:nvSpPr>
          <p:cNvPr id="14" name="Text 11"/>
          <p:cNvSpPr/>
          <p:nvPr/>
        </p:nvSpPr>
        <p:spPr>
          <a:xfrm>
            <a:off x="812767" y="6238295"/>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72C"/>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A35E"/>
                </a:solidFill>
                <a:latin typeface="JetBrains Mono" pitchFamily="49" charset="0"/>
                <a:ea typeface="JetBrains Mono" pitchFamily="49" charset="-122"/>
                <a:cs typeface="JetBrains Mono" pitchFamily="49" charset="-120"/>
              </a:rPr>
              <a:t>ÉTAPE 4 · ERREURS PARTIELLES</a:t>
            </a:r>
            <a:endParaRPr lang="en-US" sz="1200" dirty="0"/>
          </a:p>
        </p:txBody>
      </p:sp>
      <p:sp>
        <p:nvSpPr>
          <p:cNvPr id="3" name="Text 1"/>
          <p:cNvSpPr>
            <a:spLocks noGrp="1"/>
          </p:cNvSpPr>
          <p:nvPr>
            <p:ph type="title"/>
          </p:nvPr>
        </p:nvSpPr>
        <p:spPr>
          <a:xfrm>
            <a:off x="812767" y="1178471"/>
            <a:ext cx="1088346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F5F0"/>
                </a:solidFill>
                <a:latin typeface="IBM Plex Sans" pitchFamily="34" charset="0"/>
                <a:ea typeface="IBM Plex Sans" pitchFamily="34" charset="-122"/>
                <a:cs typeface="IBM Plex Sans" pitchFamily="34" charset="-120"/>
              </a:rPr>
              <a:t>« Zéro décès » et « on ne sait pas »</a:t>
            </a:r>
            <a:endParaRPr lang="en-US" sz="3200" dirty="0"/>
          </a:p>
          <a:p>
            <a:pPr marL="0" indent="0" algn="l">
              <a:lnSpc>
                <a:spcPts val="3680"/>
              </a:lnSpc>
              <a:buNone/>
            </a:pPr>
            <a:r>
              <a:rPr lang="en-US" sz="3200" b="1" i="0" dirty="0">
                <a:solidFill>
                  <a:srgbClr val="F4F5F0"/>
                </a:solidFill>
                <a:latin typeface="IBM Plex Sans" pitchFamily="34" charset="0"/>
                <a:ea typeface="IBM Plex Sans" pitchFamily="34" charset="-122"/>
                <a:cs typeface="IBM Plex Sans" pitchFamily="34" charset="-120"/>
              </a:rPr>
              <a:t>ne doivent jamais se ressembler</a:t>
            </a:r>
            <a:endParaRPr lang="en-US" sz="3200" dirty="0"/>
          </a:p>
        </p:txBody>
      </p:sp>
      <p:sp>
        <p:nvSpPr>
          <p:cNvPr id="4" name="Shape 2"/>
          <p:cNvSpPr/>
          <p:nvPr/>
        </p:nvSpPr>
        <p:spPr>
          <a:xfrm>
            <a:off x="812767" y="2468643"/>
            <a:ext cx="3386667" cy="2205881"/>
          </a:xfrm>
          <a:prstGeom prst="roundRect">
            <a:avLst>
              <a:gd name="adj" fmla="val 4606"/>
            </a:avLst>
          </a:prstGeom>
          <a:solidFill>
            <a:srgbClr val="1B3A40"/>
          </a:solidFill>
          <a:ln/>
        </p:spPr>
      </p:sp>
      <p:sp>
        <p:nvSpPr>
          <p:cNvPr id="5" name="Shape 3"/>
          <p:cNvSpPr/>
          <p:nvPr/>
        </p:nvSpPr>
        <p:spPr>
          <a:xfrm>
            <a:off x="812767" y="2468643"/>
            <a:ext cx="3386667" cy="2205881"/>
          </a:xfrm>
          <a:custGeom>
            <a:avLst/>
            <a:gdLst/>
            <a:ahLst/>
            <a:cxnLst/>
            <a:rect l="l" t="t" r="r" b="b"/>
            <a:pathLst>
              <a:path w="3386667" h="2205881">
                <a:moveTo>
                  <a:pt x="0" y="101600"/>
                </a:moveTo>
                <a:lnTo>
                  <a:pt x="0" y="101600"/>
                </a:lnTo>
                <a:arcTo wR="101600" hR="101600" stAng="10800000" swAng="5400000"/>
                <a:lnTo>
                  <a:pt x="3285067" y="0"/>
                </a:lnTo>
                <a:arcTo wR="101600" hR="101600" stAng="16200000" swAng="5400000"/>
                <a:lnTo>
                  <a:pt x="3386667" y="101600"/>
                </a:lnTo>
                <a:arcTo wR="101600" hR="63500" stAng="0" swAng="-5400000"/>
                <a:lnTo>
                  <a:pt x="101600" y="38100"/>
                </a:lnTo>
                <a:arcTo wR="101600" hR="63500" stAng="16200000" swAng="-5400000"/>
                <a:close/>
              </a:path>
            </a:pathLst>
          </a:custGeom>
          <a:solidFill>
            <a:srgbClr val="7CC4B8"/>
          </a:solidFill>
          <a:ln/>
        </p:spPr>
      </p:sp>
      <p:sp>
        <p:nvSpPr>
          <p:cNvPr id="6" name="Text 4"/>
          <p:cNvSpPr/>
          <p:nvPr/>
        </p:nvSpPr>
        <p:spPr>
          <a:xfrm>
            <a:off x="1066767" y="2759686"/>
            <a:ext cx="2965027"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CC4B8"/>
                </a:solidFill>
                <a:latin typeface="JetBrains Mono" pitchFamily="49" charset="0"/>
                <a:ea typeface="JetBrains Mono" pitchFamily="49" charset="-122"/>
                <a:cs typeface="JetBrains Mono" pitchFamily="49" charset="-120"/>
              </a:rPr>
              <a:t>DISPONIBLE</a:t>
            </a:r>
            <a:endParaRPr lang="en-US" sz="1600" dirty="0"/>
          </a:p>
        </p:txBody>
      </p:sp>
      <p:sp>
        <p:nvSpPr>
          <p:cNvPr id="7" name="Text 5"/>
          <p:cNvSpPr/>
          <p:nvPr/>
        </p:nvSpPr>
        <p:spPr>
          <a:xfrm>
            <a:off x="1066767" y="3145730"/>
            <a:ext cx="2965027"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5F0"/>
                </a:solidFill>
                <a:latin typeface="IBM Plex Sans" pitchFamily="34" charset="0"/>
                <a:ea typeface="IBM Plex Sans" pitchFamily="34" charset="-122"/>
                <a:cs typeface="IBM Plex Sans" pitchFamily="34" charset="-120"/>
              </a:rPr>
              <a:t>Le service a répondu. Un 0 ou un null dans les données est une vraie valeur.</a:t>
            </a:r>
            <a:endParaRPr lang="en-US" sz="1500" dirty="0"/>
          </a:p>
        </p:txBody>
      </p:sp>
      <p:sp>
        <p:nvSpPr>
          <p:cNvPr id="8" name="Text 6"/>
          <p:cNvSpPr/>
          <p:nvPr/>
        </p:nvSpPr>
        <p:spPr>
          <a:xfrm>
            <a:off x="1066767" y="4047213"/>
            <a:ext cx="29650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deces = 0 · structure 4</a:t>
            </a:r>
            <a:endParaRPr lang="en-US" sz="1200" dirty="0"/>
          </a:p>
        </p:txBody>
      </p:sp>
      <p:sp>
        <p:nvSpPr>
          <p:cNvPr id="9" name="Shape 7"/>
          <p:cNvSpPr/>
          <p:nvPr/>
        </p:nvSpPr>
        <p:spPr>
          <a:xfrm>
            <a:off x="4402584" y="2468643"/>
            <a:ext cx="3386749" cy="2205881"/>
          </a:xfrm>
          <a:prstGeom prst="roundRect">
            <a:avLst>
              <a:gd name="adj" fmla="val 4606"/>
            </a:avLst>
          </a:prstGeom>
          <a:solidFill>
            <a:srgbClr val="1B3A40"/>
          </a:solidFill>
          <a:ln/>
        </p:spPr>
      </p:sp>
      <p:sp>
        <p:nvSpPr>
          <p:cNvPr id="10" name="Shape 8"/>
          <p:cNvSpPr/>
          <p:nvPr/>
        </p:nvSpPr>
        <p:spPr>
          <a:xfrm>
            <a:off x="4402584" y="2468643"/>
            <a:ext cx="3386749" cy="2205881"/>
          </a:xfrm>
          <a:custGeom>
            <a:avLst/>
            <a:gdLst/>
            <a:ahLst/>
            <a:cxnLst/>
            <a:rect l="l" t="t" r="r" b="b"/>
            <a:pathLst>
              <a:path w="3386749" h="2205881">
                <a:moveTo>
                  <a:pt x="0" y="101600"/>
                </a:moveTo>
                <a:lnTo>
                  <a:pt x="0" y="101600"/>
                </a:lnTo>
                <a:arcTo wR="101600" hR="101600" stAng="10800000" swAng="5400000"/>
                <a:lnTo>
                  <a:pt x="3285149" y="0"/>
                </a:lnTo>
                <a:arcTo wR="101600" hR="101600" stAng="16200000" swAng="5400000"/>
                <a:lnTo>
                  <a:pt x="3386749" y="101600"/>
                </a:lnTo>
                <a:arcTo wR="101600" hR="63500" stAng="0" swAng="-5400000"/>
                <a:lnTo>
                  <a:pt x="101600" y="38100"/>
                </a:lnTo>
                <a:arcTo wR="101600" hR="63500" stAng="16200000" swAng="-5400000"/>
                <a:close/>
              </a:path>
            </a:pathLst>
          </a:custGeom>
          <a:solidFill>
            <a:srgbClr val="C9D2D0"/>
          </a:solidFill>
          <a:ln/>
        </p:spPr>
      </p:sp>
      <p:sp>
        <p:nvSpPr>
          <p:cNvPr id="11" name="Text 9"/>
          <p:cNvSpPr/>
          <p:nvPr/>
        </p:nvSpPr>
        <p:spPr>
          <a:xfrm>
            <a:off x="4656584" y="2759686"/>
            <a:ext cx="2965112"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6ECEA"/>
                </a:solidFill>
                <a:latin typeface="JetBrains Mono" pitchFamily="49" charset="0"/>
                <a:ea typeface="JetBrains Mono" pitchFamily="49" charset="-122"/>
                <a:cs typeface="JetBrains Mono" pitchFamily="49" charset="-120"/>
              </a:rPr>
              <a:t>ABSENT</a:t>
            </a:r>
            <a:endParaRPr lang="en-US" sz="1600" dirty="0"/>
          </a:p>
        </p:txBody>
      </p:sp>
      <p:sp>
        <p:nvSpPr>
          <p:cNvPr id="12" name="Text 10"/>
          <p:cNvSpPr/>
          <p:nvPr/>
        </p:nvSpPr>
        <p:spPr>
          <a:xfrm>
            <a:off x="4656584" y="3145730"/>
            <a:ext cx="2965112" cy="82535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5F0"/>
                </a:solidFill>
                <a:latin typeface="IBM Plex Sans" pitchFamily="34" charset="0"/>
                <a:ea typeface="IBM Plex Sans" pitchFamily="34" charset="-122"/>
                <a:cs typeface="IBM Plex Sans" pitchFamily="34" charset="-120"/>
              </a:rPr>
              <a:t>Le service a répondu 404 : rien n’existe. Donnée réellement nulle.</a:t>
            </a:r>
            <a:endParaRPr lang="en-US" sz="1500" dirty="0"/>
          </a:p>
        </p:txBody>
      </p:sp>
      <p:sp>
        <p:nvSpPr>
          <p:cNvPr id="13" name="Text 11"/>
          <p:cNvSpPr/>
          <p:nvPr/>
        </p:nvSpPr>
        <p:spPr>
          <a:xfrm>
            <a:off x="4656584" y="4047213"/>
            <a:ext cx="29651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aucun indicateur · structure 5</a:t>
            </a:r>
            <a:endParaRPr lang="en-US" sz="1200" dirty="0"/>
          </a:p>
        </p:txBody>
      </p:sp>
      <p:sp>
        <p:nvSpPr>
          <p:cNvPr id="14" name="Shape 12"/>
          <p:cNvSpPr/>
          <p:nvPr/>
        </p:nvSpPr>
        <p:spPr>
          <a:xfrm>
            <a:off x="7992483" y="2468643"/>
            <a:ext cx="3386749" cy="2205881"/>
          </a:xfrm>
          <a:prstGeom prst="roundRect">
            <a:avLst>
              <a:gd name="adj" fmla="val 4606"/>
            </a:avLst>
          </a:prstGeom>
          <a:solidFill>
            <a:srgbClr val="1B3A40"/>
          </a:solidFill>
          <a:ln/>
        </p:spPr>
      </p:sp>
      <p:sp>
        <p:nvSpPr>
          <p:cNvPr id="15" name="Shape 13"/>
          <p:cNvSpPr/>
          <p:nvPr/>
        </p:nvSpPr>
        <p:spPr>
          <a:xfrm>
            <a:off x="7992483" y="2468643"/>
            <a:ext cx="3386749" cy="2205881"/>
          </a:xfrm>
          <a:custGeom>
            <a:avLst/>
            <a:gdLst/>
            <a:ahLst/>
            <a:cxnLst/>
            <a:rect l="l" t="t" r="r" b="b"/>
            <a:pathLst>
              <a:path w="3386749" h="2205881">
                <a:moveTo>
                  <a:pt x="0" y="101600"/>
                </a:moveTo>
                <a:lnTo>
                  <a:pt x="0" y="101600"/>
                </a:lnTo>
                <a:arcTo wR="101600" hR="101600" stAng="10800000" swAng="5400000"/>
                <a:lnTo>
                  <a:pt x="3285149" y="0"/>
                </a:lnTo>
                <a:arcTo wR="101600" hR="101600" stAng="16200000" swAng="5400000"/>
                <a:lnTo>
                  <a:pt x="3386749" y="101600"/>
                </a:lnTo>
                <a:arcTo wR="101600" hR="63500" stAng="0" swAng="-5400000"/>
                <a:lnTo>
                  <a:pt x="101600" y="38100"/>
                </a:lnTo>
                <a:arcTo wR="101600" hR="63500" stAng="16200000" swAng="-5400000"/>
                <a:close/>
              </a:path>
            </a:pathLst>
          </a:custGeom>
          <a:solidFill>
            <a:srgbClr val="F0A35E"/>
          </a:solidFill>
          <a:ln/>
        </p:spPr>
      </p:sp>
      <p:sp>
        <p:nvSpPr>
          <p:cNvPr id="16" name="Text 14"/>
          <p:cNvSpPr/>
          <p:nvPr/>
        </p:nvSpPr>
        <p:spPr>
          <a:xfrm>
            <a:off x="8246483" y="2759686"/>
            <a:ext cx="2965112"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0A35E"/>
                </a:solidFill>
                <a:latin typeface="JetBrains Mono" pitchFamily="49" charset="0"/>
                <a:ea typeface="JetBrains Mono" pitchFamily="49" charset="-122"/>
                <a:cs typeface="JetBrains Mono" pitchFamily="49" charset="-120"/>
              </a:rPr>
              <a:t>INDISPONIBLE</a:t>
            </a:r>
            <a:endParaRPr lang="en-US" sz="1600" dirty="0"/>
          </a:p>
        </p:txBody>
      </p:sp>
      <p:sp>
        <p:nvSpPr>
          <p:cNvPr id="17" name="Text 15"/>
          <p:cNvSpPr/>
          <p:nvPr/>
        </p:nvSpPr>
        <p:spPr>
          <a:xfrm>
            <a:off x="8246483" y="3145730"/>
            <a:ext cx="2965112"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5F0"/>
                </a:solidFill>
                <a:latin typeface="IBM Plex Sans" pitchFamily="34" charset="0"/>
                <a:ea typeface="IBM Plex Sans" pitchFamily="34" charset="-122"/>
                <a:cs typeface="IBM Plex Sans" pitchFamily="34" charset="-120"/>
              </a:rPr>
              <a:t>Le service n’a pas pu répondre. donnees = null + erreur.code.</a:t>
            </a:r>
            <a:endParaRPr lang="en-US" sz="1500" dirty="0"/>
          </a:p>
        </p:txBody>
      </p:sp>
      <p:sp>
        <p:nvSpPr>
          <p:cNvPr id="18" name="Text 16"/>
          <p:cNvSpPr/>
          <p:nvPr/>
        </p:nvSpPr>
        <p:spPr>
          <a:xfrm>
            <a:off x="8246483" y="3780563"/>
            <a:ext cx="296511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TIMEOUT · SERVICE_UNREACHABLE · UPSTREAM_ERROR · INVALID_RESPONSE</a:t>
            </a:r>
            <a:endParaRPr lang="en-US" sz="1200" dirty="0"/>
          </a:p>
        </p:txBody>
      </p:sp>
      <p:sp>
        <p:nvSpPr>
          <p:cNvPr id="19" name="Text 17"/>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Exercice 23 · API Gateway santé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4 · RÈGLES DE COMPOSITION</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Seule la structure est indispensable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40797"/>
          <a:ext cx="10555882" cy="2052590"/>
        </p:xfrm>
        <a:graphic>
          <a:graphicData uri="http://schemas.openxmlformats.org/drawingml/2006/table">
            <a:tbl>
              <a:tblPr/>
              <a:tblGrid>
                <a:gridCol w="5489059">
                  <a:extLst>
                    <a:ext uri="{9D8B030D-6E8A-4147-A177-3AD203B41FA5}">
                      <a16:colId xmlns:a16="http://schemas.microsoft.com/office/drawing/2014/main" val="20000"/>
                    </a:ext>
                  </a:extLst>
                </a:gridCol>
                <a:gridCol w="1688941">
                  <a:extLst>
                    <a:ext uri="{9D8B030D-6E8A-4147-A177-3AD203B41FA5}">
                      <a16:colId xmlns:a16="http://schemas.microsoft.com/office/drawing/2014/main" val="20001"/>
                    </a:ext>
                  </a:extLst>
                </a:gridCol>
                <a:gridCol w="3377882">
                  <a:extLst>
                    <a:ext uri="{9D8B030D-6E8A-4147-A177-3AD203B41FA5}">
                      <a16:colId xmlns:a16="http://schemas.microsoft.com/office/drawing/2014/main" val="20002"/>
                    </a:ext>
                  </a:extLst>
                </a:gridCol>
              </a:tblGrid>
              <a:tr h="410518">
                <a:tc>
                  <a:txBody>
                    <a:bodyPr/>
                    <a:lstStyle/>
                    <a:p>
                      <a:pPr marL="0" indent="0">
                        <a:lnSpc>
                          <a:spcPts val="2100"/>
                        </a:lnSpc>
                        <a:buNone/>
                      </a:pPr>
                      <a:r>
                        <a:rPr lang="en-US" sz="1500" b="1" dirty="0">
                          <a:solidFill>
                            <a:srgbClr val="14262B"/>
                          </a:solidFill>
                          <a:latin typeface="IBM Plex Sans" pitchFamily="34" charset="0"/>
                          <a:ea typeface="IBM Plex Sans" pitchFamily="34" charset="-122"/>
                          <a:cs typeface="IBM Plex Sans" pitchFamily="34" charset="-120"/>
                        </a:rPr>
                        <a:t>Situation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2100"/>
                        </a:lnSpc>
                        <a:buNone/>
                      </a:pPr>
                      <a:r>
                        <a:rPr lang="en-US" sz="1500" b="1" dirty="0">
                          <a:solidFill>
                            <a:srgbClr val="14262B"/>
                          </a:solidFill>
                          <a:latin typeface="IBM Plex Sans" pitchFamily="34" charset="0"/>
                          <a:ea typeface="IBM Plex Sans" pitchFamily="34" charset="-122"/>
                          <a:cs typeface="IBM Plex Sans" pitchFamily="34" charset="-120"/>
                        </a:rPr>
                        <a:t>HTTP</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2100"/>
                        </a:lnSpc>
                        <a:buNone/>
                      </a:pPr>
                      <a:r>
                        <a:rPr lang="en-US" sz="1500" b="1" dirty="0">
                          <a:solidFill>
                            <a:srgbClr val="14262B"/>
                          </a:solidFill>
                          <a:latin typeface="IBM Plex Sans" pitchFamily="34" charset="0"/>
                          <a:ea typeface="IBM Plex Sans" pitchFamily="34" charset="-122"/>
                          <a:cs typeface="IBM Plex Sans" pitchFamily="34" charset="-120"/>
                        </a:rPr>
                        <a:t>statut_agregation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extLst>
                  <a:ext uri="{0D108BD9-81ED-4DB2-BD59-A6C34878D82A}">
                    <a16:rowId xmlns:a16="http://schemas.microsoft.com/office/drawing/2014/main" val="10000"/>
                  </a:ext>
                </a:extLst>
              </a:tr>
              <a:tr h="410518">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Trois sections DISPONIBLE ou ABSENT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200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COMPLET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1"/>
                  </a:ext>
                </a:extLst>
              </a:tr>
              <a:tr h="410518">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Indicateurs et/ou patients INDISPONIBLE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200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PARTIEL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2"/>
                  </a:ext>
                </a:extLst>
              </a:tr>
              <a:tr h="410518">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Structure ABSENT (id inconnu)</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404</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ECHEC</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3"/>
                  </a:ext>
                </a:extLst>
              </a:tr>
              <a:tr h="410518">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Structure INDISPONIBLE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503</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2100"/>
                        </a:lnSpc>
                        <a:buNone/>
                      </a:pPr>
                      <a:r>
                        <a:rPr lang="en-US" sz="1500" dirty="0">
                          <a:solidFill>
                            <a:srgbClr val="14262B"/>
                          </a:solidFill>
                          <a:latin typeface="IBM Plex Sans" pitchFamily="34" charset="0"/>
                          <a:ea typeface="IBM Plex Sans" pitchFamily="34" charset="-122"/>
                          <a:cs typeface="IBM Plex Sans" pitchFamily="34" charset="-120"/>
                        </a:rPr>
                        <a:t>ECHEC</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767" y="4298156"/>
            <a:ext cx="10883460" cy="55870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D"/>
                </a:solidFill>
                <a:latin typeface="IBM Plex Sans" pitchFamily="34" charset="0"/>
                <a:ea typeface="IBM Plex Sans" pitchFamily="34" charset="-122"/>
                <a:cs typeface="IBM Plex Sans" pitchFamily="34" charset="-120"/>
              </a:rPr>
              <a:t>Une réponse partielle reste un 200 : la requête a abouti et porte des données utiles. Le client lit statut_agregation ou l’en-tête X-Aggregation-Status.</a:t>
            </a:r>
            <a:endParaRPr lang="en-US" sz="1500" dirty="0"/>
          </a:p>
        </p:txBody>
      </p:sp>
      <p:sp>
        <p:nvSpPr>
          <p:cNvPr id="6" name="Text 3"/>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5 · DÉLAIS D’ATTENTE</a:t>
            </a:r>
            <a:endParaRPr lang="en-US" sz="1200" dirty="0"/>
          </a:p>
        </p:txBody>
      </p:sp>
      <p:sp>
        <p:nvSpPr>
          <p:cNvPr id="3" name="Text 1"/>
          <p:cNvSpPr>
            <a:spLocks noGrp="1"/>
          </p:cNvSpPr>
          <p:nvPr>
            <p:ph type="title"/>
          </p:nvPr>
        </p:nvSpPr>
        <p:spPr>
          <a:xfrm>
            <a:off x="812767" y="1178471"/>
            <a:ext cx="10883460" cy="9193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Des délais emboîtés : la couche la mieux informée répond la première</a:t>
            </a:r>
            <a:endParaRPr lang="en-US" sz="3200" dirty="0"/>
          </a:p>
        </p:txBody>
      </p:sp>
      <p:sp>
        <p:nvSpPr>
          <p:cNvPr id="4" name="Shape 2"/>
          <p:cNvSpPr/>
          <p:nvPr/>
        </p:nvSpPr>
        <p:spPr>
          <a:xfrm>
            <a:off x="815942" y="2431138"/>
            <a:ext cx="3380317" cy="2198621"/>
          </a:xfrm>
          <a:prstGeom prst="roundRect">
            <a:avLst>
              <a:gd name="adj" fmla="val 4477"/>
            </a:avLst>
          </a:prstGeom>
          <a:solidFill>
            <a:srgbClr val="FFFFFF"/>
          </a:solidFill>
          <a:ln w="6350">
            <a:solidFill>
              <a:srgbClr val="DCE2DE"/>
            </a:solidFill>
            <a:prstDash val="solid"/>
          </a:ln>
        </p:spPr>
      </p:sp>
      <p:sp>
        <p:nvSpPr>
          <p:cNvPr id="5" name="Text 3"/>
          <p:cNvSpPr/>
          <p:nvPr/>
        </p:nvSpPr>
        <p:spPr>
          <a:xfrm>
            <a:off x="1072059" y="2687253"/>
            <a:ext cx="295412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3561A"/>
                </a:solidFill>
                <a:latin typeface="IBM Plex Sans" pitchFamily="34" charset="0"/>
                <a:ea typeface="IBM Plex Sans" pitchFamily="34" charset="-122"/>
                <a:cs typeface="IBM Plex Sans" pitchFamily="34" charset="-120"/>
              </a:rPr>
              <a:t>2 s</a:t>
            </a:r>
            <a:endParaRPr lang="en-US" sz="6000" dirty="0"/>
          </a:p>
        </p:txBody>
      </p:sp>
      <p:sp>
        <p:nvSpPr>
          <p:cNvPr id="6" name="Text 4"/>
          <p:cNvSpPr/>
          <p:nvPr/>
        </p:nvSpPr>
        <p:spPr>
          <a:xfrm>
            <a:off x="1072059" y="3525403"/>
            <a:ext cx="2954126"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par service</a:t>
            </a:r>
            <a:endParaRPr lang="en-US" sz="1800" dirty="0"/>
          </a:p>
        </p:txBody>
      </p:sp>
      <p:sp>
        <p:nvSpPr>
          <p:cNvPr id="7" name="Text 5"/>
          <p:cNvSpPr/>
          <p:nvPr/>
        </p:nvSpPr>
        <p:spPr>
          <a:xfrm>
            <a:off x="1072059" y="3875894"/>
            <a:ext cx="2954126"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UPSTREAM_TIMEOUT · section en TIMEOUT, les autres servies</a:t>
            </a:r>
            <a:endParaRPr lang="en-US" sz="1400" dirty="0"/>
          </a:p>
        </p:txBody>
      </p:sp>
      <p:sp>
        <p:nvSpPr>
          <p:cNvPr id="8" name="Shape 6"/>
          <p:cNvSpPr/>
          <p:nvPr/>
        </p:nvSpPr>
        <p:spPr>
          <a:xfrm>
            <a:off x="4405759" y="2431138"/>
            <a:ext cx="3380399" cy="2198621"/>
          </a:xfrm>
          <a:prstGeom prst="roundRect">
            <a:avLst>
              <a:gd name="adj" fmla="val 4477"/>
            </a:avLst>
          </a:prstGeom>
          <a:solidFill>
            <a:srgbClr val="FFFFFF"/>
          </a:solidFill>
          <a:ln w="6350">
            <a:solidFill>
              <a:srgbClr val="DCE2DE"/>
            </a:solidFill>
            <a:prstDash val="solid"/>
          </a:ln>
        </p:spPr>
      </p:sp>
      <p:sp>
        <p:nvSpPr>
          <p:cNvPr id="9" name="Text 7"/>
          <p:cNvSpPr/>
          <p:nvPr/>
        </p:nvSpPr>
        <p:spPr>
          <a:xfrm>
            <a:off x="4661876" y="2687253"/>
            <a:ext cx="295421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B3561A"/>
                </a:solidFill>
                <a:latin typeface="IBM Plex Sans" pitchFamily="34" charset="0"/>
                <a:ea typeface="IBM Plex Sans" pitchFamily="34" charset="-122"/>
                <a:cs typeface="IBM Plex Sans" pitchFamily="34" charset="-120"/>
              </a:rPr>
              <a:t>3 s</a:t>
            </a:r>
            <a:endParaRPr lang="en-US" sz="6000" dirty="0"/>
          </a:p>
        </p:txBody>
      </p:sp>
      <p:sp>
        <p:nvSpPr>
          <p:cNvPr id="10" name="Text 8"/>
          <p:cNvSpPr/>
          <p:nvPr/>
        </p:nvSpPr>
        <p:spPr>
          <a:xfrm>
            <a:off x="4661876" y="3525403"/>
            <a:ext cx="2954211"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par agrégation</a:t>
            </a:r>
            <a:endParaRPr lang="en-US" sz="1800" dirty="0"/>
          </a:p>
        </p:txBody>
      </p:sp>
      <p:sp>
        <p:nvSpPr>
          <p:cNvPr id="11" name="Text 9"/>
          <p:cNvSpPr/>
          <p:nvPr/>
        </p:nvSpPr>
        <p:spPr>
          <a:xfrm>
            <a:off x="4661876" y="3875894"/>
            <a:ext cx="2954211"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GLOBAL_TIMEOUT · tâches restantes annulées</a:t>
            </a:r>
            <a:endParaRPr lang="en-US" sz="1400" dirty="0"/>
          </a:p>
        </p:txBody>
      </p:sp>
      <p:sp>
        <p:nvSpPr>
          <p:cNvPr id="12" name="Shape 10"/>
          <p:cNvSpPr/>
          <p:nvPr/>
        </p:nvSpPr>
        <p:spPr>
          <a:xfrm>
            <a:off x="7995658" y="2431138"/>
            <a:ext cx="3380399" cy="2198621"/>
          </a:xfrm>
          <a:prstGeom prst="roundRect">
            <a:avLst>
              <a:gd name="adj" fmla="val 4477"/>
            </a:avLst>
          </a:prstGeom>
          <a:solidFill>
            <a:srgbClr val="FFFFFF"/>
          </a:solidFill>
          <a:ln w="6350">
            <a:solidFill>
              <a:srgbClr val="DCE2DE"/>
            </a:solidFill>
            <a:prstDash val="solid"/>
          </a:ln>
        </p:spPr>
      </p:sp>
      <p:sp>
        <p:nvSpPr>
          <p:cNvPr id="13" name="Text 11"/>
          <p:cNvSpPr/>
          <p:nvPr/>
        </p:nvSpPr>
        <p:spPr>
          <a:xfrm>
            <a:off x="8251775" y="2687253"/>
            <a:ext cx="295421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0272C"/>
                </a:solidFill>
                <a:latin typeface="IBM Plex Sans" pitchFamily="34" charset="0"/>
                <a:ea typeface="IBM Plex Sans" pitchFamily="34" charset="-122"/>
                <a:cs typeface="IBM Plex Sans" pitchFamily="34" charset="-120"/>
              </a:rPr>
              <a:t>5 s</a:t>
            </a:r>
            <a:endParaRPr lang="en-US" sz="6000" dirty="0"/>
          </a:p>
        </p:txBody>
      </p:sp>
      <p:sp>
        <p:nvSpPr>
          <p:cNvPr id="14" name="Text 12"/>
          <p:cNvSpPr/>
          <p:nvPr/>
        </p:nvSpPr>
        <p:spPr>
          <a:xfrm>
            <a:off x="8251775" y="3525403"/>
            <a:ext cx="2954211"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72C"/>
                </a:solidFill>
                <a:latin typeface="IBM Plex Sans" pitchFamily="34" charset="0"/>
                <a:ea typeface="IBM Plex Sans" pitchFamily="34" charset="-122"/>
                <a:cs typeface="IBM Plex Sans" pitchFamily="34" charset="-120"/>
              </a:rPr>
              <a:t>dans Kong</a:t>
            </a:r>
            <a:endParaRPr lang="en-US" sz="1800" dirty="0"/>
          </a:p>
        </p:txBody>
      </p:sp>
      <p:sp>
        <p:nvSpPr>
          <p:cNvPr id="15" name="Text 13"/>
          <p:cNvSpPr/>
          <p:nvPr/>
        </p:nvSpPr>
        <p:spPr>
          <a:xfrm>
            <a:off x="8251775" y="3875894"/>
            <a:ext cx="2954211"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read_timeout · filet de sécurité, ne doit jamais se déclencher</a:t>
            </a:r>
            <a:endParaRPr lang="en-US" sz="1400" dirty="0"/>
          </a:p>
        </p:txBody>
      </p:sp>
      <p:sp>
        <p:nvSpPr>
          <p:cNvPr id="16" name="Text 14"/>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5 · CORRÉLATION ET JOURNAUX</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Un identifiant suit la requête dans les 5 composants</a:t>
            </a:r>
            <a:endParaRPr lang="en-US" sz="3200" dirty="0"/>
          </a:p>
        </p:txBody>
      </p:sp>
      <p:sp>
        <p:nvSpPr>
          <p:cNvPr id="4" name="Text 2"/>
          <p:cNvSpPr/>
          <p:nvPr/>
        </p:nvSpPr>
        <p:spPr>
          <a:xfrm>
            <a:off x="815942" y="1933389"/>
            <a:ext cx="2254349" cy="557874"/>
          </a:xfrm>
          <a:prstGeom prst="roundRect">
            <a:avLst>
              <a:gd name="adj" fmla="val 13090"/>
            </a:avLst>
          </a:prstGeom>
          <a:solidFill>
            <a:srgbClr val="FFFFFF"/>
          </a:solidFill>
          <a:ln w="6350">
            <a:solidFill>
              <a:srgbClr val="DCE2DE"/>
            </a:solidFill>
            <a:prstDash val="solid"/>
          </a:ln>
        </p:spPr>
        <p:txBody>
          <a:bodyPr wrap="square" lIns="103949" tIns="133128" rIns="103949" bIns="107728" rtlCol="0" anchor="t">
            <a:normAutofit/>
          </a:bodyPr>
          <a:lstStyle/>
          <a:p>
            <a:pPr marL="0" indent="0" algn="ctr">
              <a:lnSpc>
                <a:spcPts val="1960"/>
              </a:lnSpc>
              <a:buNone/>
            </a:pPr>
            <a:r>
              <a:rPr lang="en-US" sz="1400" b="1" dirty="0">
                <a:solidFill>
                  <a:srgbClr val="10272C"/>
                </a:solidFill>
                <a:latin typeface="IBM Plex Sans" pitchFamily="34" charset="0"/>
                <a:ea typeface="IBM Plex Sans" pitchFamily="34" charset="-122"/>
                <a:cs typeface="IBM Plex Sans" pitchFamily="34" charset="-120"/>
              </a:rPr>
              <a:t>Kong crée l’UUID</a:t>
            </a:r>
            <a:endParaRPr lang="en-US" sz="1400" dirty="0"/>
          </a:p>
        </p:txBody>
      </p:sp>
      <p:pic>
        <p:nvPicPr>
          <p:cNvPr id="5" name="Image 0" descr="arrow-right"/>
          <p:cNvPicPr>
            <a:picLocks noChangeAspect="1"/>
          </p:cNvPicPr>
          <p:nvPr/>
        </p:nvPicPr>
        <p:blipFill>
          <a:blip r:embed="rId3"/>
          <a:srcRect/>
          <a:stretch/>
        </p:blipFill>
        <p:spPr>
          <a:xfrm>
            <a:off x="3175000" y="2136093"/>
            <a:ext cx="304767" cy="152383"/>
          </a:xfrm>
          <a:prstGeom prst="rect">
            <a:avLst/>
          </a:prstGeom>
        </p:spPr>
      </p:pic>
      <p:sp>
        <p:nvSpPr>
          <p:cNvPr id="6" name="Text 3"/>
          <p:cNvSpPr/>
          <p:nvPr/>
        </p:nvSpPr>
        <p:spPr>
          <a:xfrm>
            <a:off x="3584476" y="1933389"/>
            <a:ext cx="2254432" cy="557874"/>
          </a:xfrm>
          <a:prstGeom prst="roundRect">
            <a:avLst>
              <a:gd name="adj" fmla="val 13090"/>
            </a:avLst>
          </a:prstGeom>
          <a:solidFill>
            <a:srgbClr val="FFFFFF"/>
          </a:solidFill>
          <a:ln w="6350">
            <a:solidFill>
              <a:srgbClr val="DCE2DE"/>
            </a:solidFill>
            <a:prstDash val="solid"/>
          </a:ln>
        </p:spPr>
        <p:txBody>
          <a:bodyPr wrap="square" lIns="103947" tIns="133128" rIns="103947" bIns="107728" rtlCol="0" anchor="t">
            <a:normAutofit/>
          </a:bodyPr>
          <a:lstStyle/>
          <a:p>
            <a:pPr marL="0" indent="0" algn="ctr">
              <a:lnSpc>
                <a:spcPts val="1960"/>
              </a:lnSpc>
              <a:buNone/>
            </a:pPr>
            <a:r>
              <a:rPr lang="en-US" sz="1400" b="1" dirty="0">
                <a:solidFill>
                  <a:srgbClr val="10272C"/>
                </a:solidFill>
                <a:latin typeface="IBM Plex Sans" pitchFamily="34" charset="0"/>
                <a:ea typeface="IBM Plex Sans" pitchFamily="34" charset="-122"/>
                <a:cs typeface="IBM Plex Sans" pitchFamily="34" charset="-120"/>
              </a:rPr>
              <a:t>Agrégateur le garde</a:t>
            </a:r>
            <a:endParaRPr lang="en-US" sz="1400" dirty="0"/>
          </a:p>
        </p:txBody>
      </p:sp>
      <p:pic>
        <p:nvPicPr>
          <p:cNvPr id="7" name="Image 1" descr="arrow-right"/>
          <p:cNvPicPr>
            <a:picLocks noChangeAspect="1"/>
          </p:cNvPicPr>
          <p:nvPr/>
        </p:nvPicPr>
        <p:blipFill>
          <a:blip r:embed="rId3"/>
          <a:srcRect/>
          <a:stretch/>
        </p:blipFill>
        <p:spPr>
          <a:xfrm>
            <a:off x="5943616" y="2136093"/>
            <a:ext cx="304767" cy="152383"/>
          </a:xfrm>
          <a:prstGeom prst="rect">
            <a:avLst/>
          </a:prstGeom>
        </p:spPr>
      </p:pic>
      <p:sp>
        <p:nvSpPr>
          <p:cNvPr id="8" name="Text 4"/>
          <p:cNvSpPr/>
          <p:nvPr/>
        </p:nvSpPr>
        <p:spPr>
          <a:xfrm>
            <a:off x="6353092" y="1933389"/>
            <a:ext cx="2254349" cy="557874"/>
          </a:xfrm>
          <a:prstGeom prst="roundRect">
            <a:avLst>
              <a:gd name="adj" fmla="val 13090"/>
            </a:avLst>
          </a:prstGeom>
          <a:solidFill>
            <a:srgbClr val="FFFFFF"/>
          </a:solidFill>
          <a:ln w="6350">
            <a:solidFill>
              <a:srgbClr val="DCE2DE"/>
            </a:solidFill>
            <a:prstDash val="solid"/>
          </a:ln>
        </p:spPr>
        <p:txBody>
          <a:bodyPr wrap="square" lIns="103949" tIns="133128" rIns="103949" bIns="107728" rtlCol="0" anchor="t">
            <a:normAutofit/>
          </a:bodyPr>
          <a:lstStyle/>
          <a:p>
            <a:pPr marL="0" indent="0" algn="ctr">
              <a:lnSpc>
                <a:spcPts val="1960"/>
              </a:lnSpc>
              <a:buNone/>
            </a:pPr>
            <a:r>
              <a:rPr lang="en-US" sz="1400" b="1" dirty="0">
                <a:solidFill>
                  <a:srgbClr val="10272C"/>
                </a:solidFill>
                <a:latin typeface="IBM Plex Sans" pitchFamily="34" charset="0"/>
                <a:ea typeface="IBM Plex Sans" pitchFamily="34" charset="-122"/>
                <a:cs typeface="IBM Plex Sans" pitchFamily="34" charset="-120"/>
              </a:rPr>
              <a:t>3 API le journalisent</a:t>
            </a:r>
            <a:endParaRPr lang="en-US" sz="1400" dirty="0"/>
          </a:p>
        </p:txBody>
      </p:sp>
      <p:pic>
        <p:nvPicPr>
          <p:cNvPr id="9" name="Image 2" descr="arrow-right"/>
          <p:cNvPicPr>
            <a:picLocks noChangeAspect="1"/>
          </p:cNvPicPr>
          <p:nvPr/>
        </p:nvPicPr>
        <p:blipFill>
          <a:blip r:embed="rId3"/>
          <a:srcRect/>
          <a:stretch/>
        </p:blipFill>
        <p:spPr>
          <a:xfrm>
            <a:off x="8712150" y="2136093"/>
            <a:ext cx="304767" cy="152383"/>
          </a:xfrm>
          <a:prstGeom prst="rect">
            <a:avLst/>
          </a:prstGeom>
        </p:spPr>
      </p:pic>
      <p:sp>
        <p:nvSpPr>
          <p:cNvPr id="10" name="Text 5"/>
          <p:cNvSpPr/>
          <p:nvPr/>
        </p:nvSpPr>
        <p:spPr>
          <a:xfrm>
            <a:off x="9121626" y="1933389"/>
            <a:ext cx="2254432" cy="557874"/>
          </a:xfrm>
          <a:prstGeom prst="roundRect">
            <a:avLst>
              <a:gd name="adj" fmla="val 13090"/>
            </a:avLst>
          </a:prstGeom>
          <a:solidFill>
            <a:srgbClr val="FFFFFF"/>
          </a:solidFill>
          <a:ln w="6350">
            <a:solidFill>
              <a:srgbClr val="DCE2DE"/>
            </a:solidFill>
            <a:prstDash val="solid"/>
          </a:ln>
        </p:spPr>
        <p:txBody>
          <a:bodyPr wrap="square" lIns="103947" tIns="133128" rIns="103947" bIns="107728" rtlCol="0" anchor="t">
            <a:normAutofit/>
          </a:bodyPr>
          <a:lstStyle/>
          <a:p>
            <a:pPr marL="0" indent="0" algn="ctr">
              <a:lnSpc>
                <a:spcPts val="1960"/>
              </a:lnSpc>
              <a:buNone/>
            </a:pPr>
            <a:r>
              <a:rPr lang="en-US" sz="1400" b="1" dirty="0">
                <a:solidFill>
                  <a:srgbClr val="10272C"/>
                </a:solidFill>
                <a:latin typeface="IBM Plex Sans" pitchFamily="34" charset="0"/>
                <a:ea typeface="IBM Plex Sans" pitchFamily="34" charset="-122"/>
                <a:cs typeface="IBM Plex Sans" pitchFamily="34" charset="-120"/>
              </a:rPr>
              <a:t>Client le reçoit</a:t>
            </a:r>
            <a:endParaRPr lang="en-US" sz="1400" dirty="0"/>
          </a:p>
        </p:txBody>
      </p:sp>
      <p:sp>
        <p:nvSpPr>
          <p:cNvPr id="11" name="Text 6"/>
          <p:cNvSpPr/>
          <p:nvPr/>
        </p:nvSpPr>
        <p:spPr>
          <a:xfrm>
            <a:off x="812767" y="2799209"/>
            <a:ext cx="10566466" cy="863368"/>
          </a:xfrm>
          <a:prstGeom prst="roundRect">
            <a:avLst>
              <a:gd name="adj" fmla="val 8826"/>
            </a:avLst>
          </a:prstGeom>
          <a:solidFill>
            <a:srgbClr val="10272C"/>
          </a:solidFill>
          <a:ln/>
        </p:spPr>
        <p:txBody>
          <a:bodyPr wrap="square" lIns="180882" tIns="180882" rIns="0" bIns="155482" rtlCol="0" anchor="t">
            <a:normAutofit/>
          </a:bodyPr>
          <a:lstStyle/>
          <a:p>
            <a:pPr marL="0" indent="0" algn="l">
              <a:lnSpc>
                <a:spcPts val="1800"/>
              </a:lnSpc>
              <a:buNone/>
            </a:pPr>
            <a:r>
              <a:rPr lang="en-US" sz="1200" dirty="0">
                <a:solidFill>
                  <a:srgbClr val="E6ECEA"/>
                </a:solidFill>
                <a:latin typeface="JetBrains Mono" pitchFamily="49" charset="0"/>
                <a:ea typeface="JetBrains Mono" pitchFamily="49" charset="-122"/>
                <a:cs typeface="JetBrains Mono" pitchFamily="49" charset="-120"/>
              </a:rPr>
              <a:t>{"level": "WARNING", "service": "aggregator", "correlation_id": "e2e-4211", "event": "upstream_call", "upstream": "indicateurs", "outcome": "INDISPONIBLE", "error_code": "TIMEOUT", "duration_ms": 2001.3}</a:t>
            </a:r>
            <a:endParaRPr lang="en-US" sz="1200" dirty="0"/>
          </a:p>
        </p:txBody>
      </p:sp>
      <p:sp>
        <p:nvSpPr>
          <p:cNvPr id="12" name="Text 7"/>
          <p:cNvSpPr/>
          <p:nvPr/>
        </p:nvSpPr>
        <p:spPr>
          <a:xfrm>
            <a:off x="812767" y="3967342"/>
            <a:ext cx="10883460" cy="29205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D"/>
                </a:solidFill>
                <a:latin typeface="IBM Plex Sans" pitchFamily="34" charset="0"/>
                <a:ea typeface="IBM Plex Sans" pitchFamily="34" charset="-122"/>
                <a:cs typeface="IBM Plex Sans" pitchFamily="34" charset="-120"/>
              </a:rPr>
              <a:t>Une commande retrouve toute l’histoire : </a:t>
            </a:r>
            <a:r>
              <a:rPr lang="en-US" sz="1500" dirty="0">
                <a:solidFill>
                  <a:srgbClr val="B3561A"/>
                </a:solidFill>
                <a:latin typeface="IBM Plex Sans" pitchFamily="34" charset="0"/>
                <a:ea typeface="IBM Plex Sans" pitchFamily="34" charset="-122"/>
                <a:cs typeface="IBM Plex Sans" pitchFamily="34" charset="-120"/>
              </a:rPr>
              <a:t>docker compose logs | grep &lt;identifiant&gt;</a:t>
            </a:r>
            <a:endParaRPr lang="en-US" sz="1500" dirty="0"/>
          </a:p>
        </p:txBody>
      </p:sp>
      <p:sp>
        <p:nvSpPr>
          <p:cNvPr id="13" name="Text 8"/>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ÉTAPE 6 · TESTS</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Chaque panne de l’énoncé est provoquée, puis vérifiée</a:t>
            </a:r>
            <a:endParaRPr lang="en-US" sz="3200" dirty="0"/>
          </a:p>
        </p:txBody>
      </p:sp>
      <p:sp>
        <p:nvSpPr>
          <p:cNvPr id="4" name="Text 2"/>
          <p:cNvSpPr/>
          <p:nvPr/>
        </p:nvSpPr>
        <p:spPr>
          <a:xfrm>
            <a:off x="812767" y="1930214"/>
            <a:ext cx="3401060" cy="736633"/>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B3561A"/>
                </a:solidFill>
                <a:latin typeface="IBM Plex Sans" pitchFamily="34" charset="0"/>
                <a:ea typeface="IBM Plex Sans" pitchFamily="34" charset="-122"/>
                <a:cs typeface="IBM Plex Sans" pitchFamily="34" charset="-120"/>
              </a:rPr>
              <a:t>28/28</a:t>
            </a:r>
            <a:endParaRPr lang="en-US" sz="5600" dirty="0"/>
          </a:p>
        </p:txBody>
      </p:sp>
      <p:sp>
        <p:nvSpPr>
          <p:cNvPr id="5" name="Text 3"/>
          <p:cNvSpPr/>
          <p:nvPr/>
        </p:nvSpPr>
        <p:spPr>
          <a:xfrm>
            <a:off x="812767" y="2692214"/>
            <a:ext cx="3401060" cy="77202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tests unitaires pytest et contrats d’API ; services simulés par httpx.MockTransport</a:t>
            </a:r>
            <a:endParaRPr lang="en-US" sz="1400" dirty="0"/>
          </a:p>
        </p:txBody>
      </p:sp>
      <p:sp>
        <p:nvSpPr>
          <p:cNvPr id="6" name="Text 4"/>
          <p:cNvSpPr/>
          <p:nvPr/>
        </p:nvSpPr>
        <p:spPr>
          <a:xfrm>
            <a:off x="812767" y="3641985"/>
            <a:ext cx="3401060" cy="736633"/>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10272C"/>
                </a:solidFill>
                <a:latin typeface="IBM Plex Sans" pitchFamily="34" charset="0"/>
                <a:ea typeface="IBM Plex Sans" pitchFamily="34" charset="-122"/>
                <a:cs typeface="IBM Plex Sans" pitchFamily="34" charset="-120"/>
              </a:rPr>
              <a:t>14/14</a:t>
            </a:r>
            <a:endParaRPr lang="en-US" sz="5600" dirty="0"/>
          </a:p>
        </p:txBody>
      </p:sp>
      <p:sp>
        <p:nvSpPr>
          <p:cNvPr id="7" name="Text 5"/>
          <p:cNvSpPr/>
          <p:nvPr/>
        </p:nvSpPr>
        <p:spPr>
          <a:xfrm>
            <a:off x="812767" y="4403985"/>
            <a:ext cx="3401060" cy="52314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5D"/>
                </a:solidFill>
                <a:latin typeface="IBM Plex Sans" pitchFamily="34" charset="0"/>
                <a:ea typeface="IBM Plex Sans" pitchFamily="34" charset="-122"/>
                <a:cs typeface="IBM Plex Sans" pitchFamily="34" charset="-120"/>
              </a:rPr>
              <a:t>vérifications de bout en bout à travers Kong (tests/e2e_kong.sh)</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30117" y="1940797"/>
          <a:ext cx="6948950" cy="2856840"/>
        </p:xfrm>
        <a:graphic>
          <a:graphicData uri="http://schemas.openxmlformats.org/drawingml/2006/table">
            <a:tbl>
              <a:tblPr/>
              <a:tblGrid>
                <a:gridCol w="2779580">
                  <a:extLst>
                    <a:ext uri="{9D8B030D-6E8A-4147-A177-3AD203B41FA5}">
                      <a16:colId xmlns:a16="http://schemas.microsoft.com/office/drawing/2014/main" val="20000"/>
                    </a:ext>
                  </a:extLst>
                </a:gridCol>
                <a:gridCol w="4169370">
                  <a:extLst>
                    <a:ext uri="{9D8B030D-6E8A-4147-A177-3AD203B41FA5}">
                      <a16:colId xmlns:a16="http://schemas.microsoft.com/office/drawing/2014/main" val="20001"/>
                    </a:ext>
                  </a:extLst>
                </a:gridCol>
              </a:tblGrid>
              <a:tr h="357105">
                <a:tc>
                  <a:txBody>
                    <a:bodyPr/>
                    <a:lstStyle/>
                    <a:p>
                      <a:pPr marL="0" indent="0">
                        <a:lnSpc>
                          <a:spcPts val="1820"/>
                        </a:lnSpc>
                        <a:buNone/>
                      </a:pPr>
                      <a:r>
                        <a:rPr lang="en-US" sz="1300" b="1" dirty="0">
                          <a:solidFill>
                            <a:srgbClr val="14262B"/>
                          </a:solidFill>
                          <a:latin typeface="IBM Plex Sans" pitchFamily="34" charset="0"/>
                          <a:ea typeface="IBM Plex Sans" pitchFamily="34" charset="-122"/>
                          <a:cs typeface="IBM Plex Sans" pitchFamily="34" charset="-120"/>
                        </a:rPr>
                        <a:t>Scénario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tc>
                  <a:txBody>
                    <a:bodyPr/>
                    <a:lstStyle/>
                    <a:p>
                      <a:pPr marL="0" indent="0">
                        <a:lnSpc>
                          <a:spcPts val="1820"/>
                        </a:lnSpc>
                        <a:buNone/>
                      </a:pPr>
                      <a:r>
                        <a:rPr lang="en-US" sz="1300" b="1" dirty="0">
                          <a:solidFill>
                            <a:srgbClr val="14262B"/>
                          </a:solidFill>
                          <a:latin typeface="IBM Plex Sans" pitchFamily="34" charset="0"/>
                          <a:ea typeface="IBM Plex Sans" pitchFamily="34" charset="-122"/>
                          <a:cs typeface="IBM Plex Sans" pitchFamily="34" charset="-120"/>
                        </a:rPr>
                        <a:t>Résultat attendu</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7B3"/>
                      </a:solidFill>
                      <a:prstDash val="solid"/>
                      <a:round/>
                      <a:headEnd type="none" w="med" len="med"/>
                      <a:tailEnd type="none" w="med" len="med"/>
                    </a:lnL>
                    <a:lnR w="12700" cap="flat" cmpd="sng" algn="ctr">
                      <a:solidFill>
                        <a:srgbClr val="B6B7B3"/>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B6B7B3"/>
                      </a:solidFill>
                      <a:prstDash val="solid"/>
                      <a:round/>
                      <a:headEnd type="none" w="med" len="med"/>
                      <a:tailEnd type="none" w="med" len="med"/>
                    </a:lnB>
                    <a:solidFill>
                      <a:srgbClr val="E4E5E0"/>
                    </a:solidFill>
                  </a:tcPr>
                </a:tc>
                <a:extLst>
                  <a:ext uri="{0D108BD9-81ED-4DB2-BD59-A6C34878D82A}">
                    <a16:rowId xmlns:a16="http://schemas.microsoft.com/office/drawing/2014/main" val="10000"/>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Réponse complète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200 · COMPLET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B6B7B3"/>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1"/>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Zéro réel (structure 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200 · COMPLET · total = 0, ABSENT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2"/>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 patients en 500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200 · PARTIEL · UPSTREAM_ERROR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3"/>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 indicateurs lente (5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TIMEOUT, réponse en ≈ 2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4"/>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Conteneur arrêté</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PARTIEL · SERVICE_UNREACHABLE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5"/>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API structures arrêtée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503 · ECHEC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6"/>
                  </a:ext>
                </a:extLst>
              </a:tr>
              <a:tr h="357105">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Sans en-tête client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tc>
                  <a:txBody>
                    <a:bodyPr/>
                    <a:lstStyle/>
                    <a:p>
                      <a:pPr marL="0" indent="0">
                        <a:lnSpc>
                          <a:spcPts val="1820"/>
                        </a:lnSpc>
                        <a:buNone/>
                      </a:pPr>
                      <a:r>
                        <a:rPr lang="en-US" sz="1300" dirty="0">
                          <a:solidFill>
                            <a:srgbClr val="14262B"/>
                          </a:solidFill>
                          <a:latin typeface="IBM Plex Sans" pitchFamily="34" charset="0"/>
                          <a:ea typeface="IBM Plex Sans" pitchFamily="34" charset="-122"/>
                          <a:cs typeface="IBM Plex Sans" pitchFamily="34" charset="-120"/>
                        </a:rPr>
                        <a:t>X-Correlation-ID créé par Kong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5C1"/>
                      </a:solidFill>
                      <a:prstDash val="solid"/>
                      <a:round/>
                      <a:headEnd type="none" w="med" len="med"/>
                      <a:tailEnd type="none" w="med" len="med"/>
                    </a:lnL>
                    <a:lnR w="12700" cap="flat" cmpd="sng" algn="ctr">
                      <a:solidFill>
                        <a:srgbClr val="C4C5C1"/>
                      </a:solidFill>
                      <a:prstDash val="solid"/>
                      <a:round/>
                      <a:headEnd type="none" w="med" len="med"/>
                      <a:tailEnd type="none" w="med" len="med"/>
                    </a:lnR>
                    <a:lnT w="12700" cap="flat" cmpd="sng" algn="ctr">
                      <a:solidFill>
                        <a:srgbClr val="C4C5C1"/>
                      </a:solidFill>
                      <a:prstDash val="solid"/>
                      <a:round/>
                      <a:headEnd type="none" w="med" len="med"/>
                      <a:tailEnd type="none" w="med" len="med"/>
                    </a:lnT>
                    <a:lnB w="12700" cap="flat" cmpd="sng" algn="ctr">
                      <a:solidFill>
                        <a:srgbClr val="C4C5C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6"/>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EEA"/>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561A"/>
                </a:solidFill>
                <a:latin typeface="JetBrains Mono" pitchFamily="49" charset="0"/>
                <a:ea typeface="JetBrains Mono" pitchFamily="49" charset="-122"/>
                <a:cs typeface="JetBrains Mono" pitchFamily="49" charset="-120"/>
              </a:rPr>
              <a:t>DÉMONSTRATION</a:t>
            </a:r>
            <a:endParaRPr lang="en-US" sz="1200" dirty="0"/>
          </a:p>
        </p:txBody>
      </p:sp>
      <p:sp>
        <p:nvSpPr>
          <p:cNvPr id="3" name="Text 1"/>
          <p:cNvSpPr>
            <a:spLocks noGrp="1"/>
          </p:cNvSpPr>
          <p:nvPr>
            <p:ph type="title"/>
          </p:nvPr>
        </p:nvSpPr>
        <p:spPr>
          <a:xfrm>
            <a:off x="812767" y="1178471"/>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72C"/>
                </a:solidFill>
                <a:latin typeface="IBM Plex Sans" pitchFamily="34" charset="0"/>
                <a:ea typeface="IBM Plex Sans" pitchFamily="34" charset="-122"/>
                <a:cs typeface="IBM Plex Sans" pitchFamily="34" charset="-120"/>
              </a:rPr>
              <a:t>Sept requêtes, sept comportements</a:t>
            </a:r>
            <a:endParaRPr lang="en-US" sz="3200" dirty="0"/>
          </a:p>
        </p:txBody>
      </p:sp>
      <p:sp>
        <p:nvSpPr>
          <p:cNvPr id="4" name="Text 2"/>
          <p:cNvSpPr/>
          <p:nvPr/>
        </p:nvSpPr>
        <p:spPr>
          <a:xfrm>
            <a:off x="746621" y="1930214"/>
            <a:ext cx="10941986" cy="2016390"/>
          </a:xfrm>
          <a:prstGeom prst="rect">
            <a:avLst/>
          </a:prstGeom>
          <a:noFill/>
          <a:ln/>
        </p:spPr>
        <p:txBody>
          <a:bodyPr wrap="square" lIns="0" tIns="0" rIns="0" bIns="0" rtlCol="0" anchor="t">
            <a:normAutofit/>
          </a:bodyPr>
          <a:lstStyle/>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curl localhost:8001/services · la config Kong</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GET /dashboard/structures/1 · COMPLET</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GET /dashboard/structures/4 et /5 · zéros réels</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chaos patients error · PARTIEL</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chaos indicateurs slow 5 s · TIMEOUT en 2 s</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docker compose stop structures · 503</a:t>
            </a:r>
            <a:endParaRPr lang="en-US" sz="1400" dirty="0"/>
          </a:p>
          <a:p>
            <a:pPr marL="320146" indent="-320146" algn="l">
              <a:lnSpc>
                <a:spcPts val="2240"/>
              </a:lnSpc>
              <a:buSzPct val="100000"/>
              <a:buFontTx/>
              <a:buAutoNum type="arabicPeriod"/>
            </a:pPr>
            <a:r>
              <a:rPr lang="en-US" sz="1400" dirty="0">
                <a:solidFill>
                  <a:srgbClr val="14262B"/>
                </a:solidFill>
                <a:latin typeface="JetBrains Mono" pitchFamily="49" charset="0"/>
                <a:ea typeface="JetBrains Mono" pitchFamily="49" charset="-122"/>
                <a:cs typeface="JetBrains Mono" pitchFamily="49" charset="-120"/>
              </a:rPr>
              <a:t>grep de l’identifiant dans les journaux</a:t>
            </a:r>
            <a:endParaRPr lang="en-US" sz="1400" dirty="0"/>
          </a:p>
        </p:txBody>
      </p:sp>
      <p:sp>
        <p:nvSpPr>
          <p:cNvPr id="5" name="Text 3"/>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70"/>
                </a:solidFill>
                <a:latin typeface="IBM Plex Sans" pitchFamily="34" charset="0"/>
                <a:ea typeface="IBM Plex Sans" pitchFamily="34" charset="-122"/>
                <a:cs typeface="IBM Plex Sans" pitchFamily="34" charset="-120"/>
              </a:rPr>
              <a:t>Exercice 23 · API Gateway santé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72C"/>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A35E"/>
                </a:solidFill>
                <a:latin typeface="JetBrains Mono" pitchFamily="49" charset="0"/>
                <a:ea typeface="JetBrains Mono" pitchFamily="49" charset="-122"/>
                <a:cs typeface="JetBrains Mono" pitchFamily="49" charset="-120"/>
              </a:rPr>
              <a:t>BILAN</a:t>
            </a:r>
            <a:endParaRPr lang="en-US" sz="1200" dirty="0"/>
          </a:p>
        </p:txBody>
      </p:sp>
      <p:sp>
        <p:nvSpPr>
          <p:cNvPr id="3" name="Text 1"/>
          <p:cNvSpPr>
            <a:spLocks noGrp="1"/>
          </p:cNvSpPr>
          <p:nvPr>
            <p:ph type="title"/>
          </p:nvPr>
        </p:nvSpPr>
        <p:spPr>
          <a:xfrm>
            <a:off x="812767" y="1178471"/>
            <a:ext cx="1088346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F5F0"/>
                </a:solidFill>
                <a:latin typeface="IBM Plex Sans" pitchFamily="34" charset="0"/>
                <a:ea typeface="IBM Plex Sans" pitchFamily="34" charset="-122"/>
                <a:cs typeface="IBM Plex Sans" pitchFamily="34" charset="-120"/>
              </a:rPr>
              <a:t>Un seul appel pour le client,</a:t>
            </a:r>
            <a:endParaRPr lang="en-US" sz="3200" dirty="0"/>
          </a:p>
          <a:p>
            <a:pPr marL="0" indent="0" algn="l">
              <a:lnSpc>
                <a:spcPts val="3680"/>
              </a:lnSpc>
              <a:buNone/>
            </a:pPr>
            <a:r>
              <a:rPr lang="en-US" sz="3200" b="1" i="0" dirty="0">
                <a:solidFill>
                  <a:srgbClr val="F4F5F0"/>
                </a:solidFill>
                <a:latin typeface="IBM Plex Sans" pitchFamily="34" charset="0"/>
                <a:ea typeface="IBM Plex Sans" pitchFamily="34" charset="-122"/>
                <a:cs typeface="IBM Plex Sans" pitchFamily="34" charset="-120"/>
              </a:rPr>
              <a:t>et une panne n’éteint plus tout l’écran</a:t>
            </a:r>
            <a:endParaRPr lang="en-US" sz="3200" dirty="0"/>
          </a:p>
        </p:txBody>
      </p:sp>
      <p:sp>
        <p:nvSpPr>
          <p:cNvPr id="4" name="Text 2"/>
          <p:cNvSpPr/>
          <p:nvPr/>
        </p:nvSpPr>
        <p:spPr>
          <a:xfrm>
            <a:off x="812767" y="3101330"/>
            <a:ext cx="5232400"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7CC4B8"/>
                </a:solidFill>
                <a:latin typeface="IBM Plex Sans" pitchFamily="34" charset="0"/>
                <a:ea typeface="IBM Plex Sans" pitchFamily="34" charset="-122"/>
                <a:cs typeface="IBM Plex Sans" pitchFamily="34" charset="-120"/>
              </a:rPr>
              <a:t>Réalisé</a:t>
            </a:r>
            <a:endParaRPr lang="en-US" sz="1800" dirty="0"/>
          </a:p>
        </p:txBody>
      </p:sp>
      <p:sp>
        <p:nvSpPr>
          <p:cNvPr id="5" name="Text 3"/>
          <p:cNvSpPr/>
          <p:nvPr/>
        </p:nvSpPr>
        <p:spPr>
          <a:xfrm>
            <a:off x="890999" y="3502670"/>
            <a:ext cx="5146548" cy="1092002"/>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3 API indépendantes + agrégateur</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Kong DB-less, point d’entrée unique</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Statuts DISPONIBLE / ABSENT / INDISPONIBLE</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Délais 2-3-5 s, corrélation, logs JSON</a:t>
            </a:r>
            <a:endParaRPr lang="en-US" sz="1400" dirty="0"/>
          </a:p>
        </p:txBody>
      </p:sp>
      <p:sp>
        <p:nvSpPr>
          <p:cNvPr id="6" name="Text 4"/>
          <p:cNvSpPr/>
          <p:nvPr/>
        </p:nvSpPr>
        <p:spPr>
          <a:xfrm>
            <a:off x="6299150" y="3101330"/>
            <a:ext cx="5232485" cy="2997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A35E"/>
                </a:solidFill>
                <a:latin typeface="IBM Plex Sans" pitchFamily="34" charset="0"/>
                <a:ea typeface="IBM Plex Sans" pitchFamily="34" charset="-122"/>
                <a:cs typeface="IBM Plex Sans" pitchFamily="34" charset="-120"/>
              </a:rPr>
              <a:t>Pistes suivantes</a:t>
            </a:r>
            <a:endParaRPr lang="en-US" sz="1800" dirty="0"/>
          </a:p>
        </p:txBody>
      </p:sp>
      <p:sp>
        <p:nvSpPr>
          <p:cNvPr id="7" name="Text 5"/>
          <p:cNvSpPr/>
          <p:nvPr/>
        </p:nvSpPr>
        <p:spPr>
          <a:xfrm>
            <a:off x="6377382" y="3502670"/>
            <a:ext cx="5146633" cy="1092002"/>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Authentification JWT sur Kong</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Cache court (plugin proxy-cache)</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Disjoncteur sur les services lents</a:t>
            </a:r>
            <a:endParaRPr lang="en-US" sz="1400" dirty="0"/>
          </a:p>
          <a:p>
            <a:pPr marL="175768" indent="-175768" algn="l">
              <a:lnSpc>
                <a:spcPts val="2100"/>
              </a:lnSpc>
              <a:buSzPct val="100000"/>
              <a:buChar char="•"/>
            </a:pPr>
            <a:r>
              <a:rPr lang="en-US" sz="1400" dirty="0">
                <a:solidFill>
                  <a:srgbClr val="F4F5F0"/>
                </a:solidFill>
                <a:latin typeface="IBM Plex Sans" pitchFamily="34" charset="0"/>
                <a:ea typeface="IBM Plex Sans" pitchFamily="34" charset="-122"/>
                <a:cs typeface="IBM Plex Sans" pitchFamily="34" charset="-120"/>
              </a:rPr>
              <a:t>Métriques Prometheus, tableaux Grafana</a:t>
            </a:r>
            <a:endParaRPr lang="en-US" sz="1400" dirty="0"/>
          </a:p>
        </p:txBody>
      </p:sp>
      <p:sp>
        <p:nvSpPr>
          <p:cNvPr id="8" name="Text 6"/>
          <p:cNvSpPr/>
          <p:nvPr/>
        </p:nvSpPr>
        <p:spPr>
          <a:xfrm>
            <a:off x="812767" y="5080302"/>
            <a:ext cx="10883460" cy="808617"/>
          </a:xfrm>
          <a:prstGeom prst="rect">
            <a:avLst/>
          </a:prstGeom>
          <a:noFill/>
          <a:ln/>
        </p:spPr>
        <p:txBody>
          <a:bodyPr wrap="square" lIns="0" tIns="0" rIns="0" bIns="0" rtlCol="0" anchor="t">
            <a:normAutofit/>
          </a:bodyPr>
          <a:lstStyle/>
          <a:p>
            <a:pPr marL="0" indent="0" algn="ctr">
              <a:lnSpc>
                <a:spcPts val="2240"/>
              </a:lnSpc>
              <a:buNone/>
            </a:pPr>
            <a:endParaRPr lang="en-US" sz="3600" dirty="0">
              <a:solidFill>
                <a:srgbClr val="B9D3D0"/>
              </a:solidFill>
              <a:latin typeface="IBM Plex Sans" pitchFamily="34" charset="0"/>
              <a:ea typeface="IBM Plex Sans" pitchFamily="34" charset="-122"/>
              <a:cs typeface="IBM Plex Sans" pitchFamily="34" charset="-120"/>
            </a:endParaRPr>
          </a:p>
          <a:p>
            <a:pPr marL="0" indent="0" algn="ctr">
              <a:lnSpc>
                <a:spcPts val="2240"/>
              </a:lnSpc>
              <a:buNone/>
            </a:pPr>
            <a:r>
              <a:rPr lang="en-US" sz="3600" dirty="0">
                <a:solidFill>
                  <a:srgbClr val="B9D3D0"/>
                </a:solidFill>
                <a:latin typeface="IBM Plex Sans" pitchFamily="34" charset="0"/>
                <a:ea typeface="IBM Plex Sans" pitchFamily="34" charset="-122"/>
                <a:cs typeface="IBM Plex Sans" pitchFamily="34" charset="-120"/>
              </a:rPr>
              <a:t>Merci pour </a:t>
            </a:r>
            <a:r>
              <a:rPr lang="en-US" sz="3600" dirty="0" err="1">
                <a:solidFill>
                  <a:srgbClr val="B9D3D0"/>
                </a:solidFill>
                <a:latin typeface="IBM Plex Sans" pitchFamily="34" charset="0"/>
                <a:ea typeface="IBM Plex Sans" pitchFamily="34" charset="-122"/>
                <a:cs typeface="IBM Plex Sans" pitchFamily="34" charset="-120"/>
              </a:rPr>
              <a:t>votre</a:t>
            </a:r>
            <a:r>
              <a:rPr lang="en-US" sz="3600" dirty="0">
                <a:solidFill>
                  <a:srgbClr val="B9D3D0"/>
                </a:solidFill>
                <a:latin typeface="IBM Plex Sans" pitchFamily="34" charset="0"/>
                <a:ea typeface="IBM Plex Sans" pitchFamily="34" charset="-122"/>
                <a:cs typeface="IBM Plex Sans" pitchFamily="34" charset="-120"/>
              </a:rPr>
              <a:t> attention</a:t>
            </a:r>
            <a:endParaRPr lang="en-US" sz="3600" dirty="0"/>
          </a:p>
        </p:txBody>
      </p:sp>
      <p:sp>
        <p:nvSpPr>
          <p:cNvPr id="9" name="Text 7"/>
          <p:cNvSpPr/>
          <p:nvPr/>
        </p:nvSpPr>
        <p:spPr>
          <a:xfrm>
            <a:off x="812767" y="6238292"/>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D3D0"/>
                </a:solidFill>
                <a:latin typeface="IBM Plex Sans" pitchFamily="34" charset="0"/>
                <a:ea typeface="IBM Plex Sans" pitchFamily="34" charset="-122"/>
                <a:cs typeface="IBM Plex Sans" pitchFamily="34" charset="-120"/>
              </a:rPr>
              <a:t>Exercice 23 · API Gateway santé · 14</a:t>
            </a:r>
            <a:endParaRPr lang="en-US" sz="1200" dirty="0"/>
          </a:p>
        </p:txBody>
      </p:sp>
    </p:spTree>
  </p:cSld>
  <p:clrMapOvr>
    <a:masterClrMapping/>
  </p:clrMapOvr>
</p:sld>
</file>

<file path=ppt/theme/theme1.xml><?xml version="1.0" encoding="utf-8"?>
<a:theme xmlns:a="http://schemas.openxmlformats.org/drawingml/2006/main" name="Soutenance — API Gateway santé">
  <a:themeElements>
    <a:clrScheme name="Soutenance — API Gateway santé">
      <a:dk1>
        <a:srgbClr val="10272C"/>
      </a:dk1>
      <a:lt1>
        <a:srgbClr val="F6F7F2"/>
      </a:lt1>
      <a:dk2>
        <a:srgbClr val="4A5B5E"/>
      </a:dk2>
      <a:lt2>
        <a:srgbClr val="DFE2DE"/>
      </a:lt2>
      <a:accent1>
        <a:srgbClr val="B3561A"/>
      </a:accent1>
      <a:accent2>
        <a:srgbClr val="F0A35E"/>
      </a:accent2>
      <a:accent3>
        <a:srgbClr val="7CC4B8"/>
      </a:accent3>
      <a:accent4>
        <a:srgbClr val="4A5A5D"/>
      </a:accent4>
      <a:accent5>
        <a:srgbClr val="5E6E70"/>
      </a:accent5>
      <a:accent6>
        <a:srgbClr val="B9D3D0"/>
      </a:accent6>
      <a:hlink>
        <a:srgbClr val="0563C1"/>
      </a:hlink>
      <a:folHlink>
        <a:srgbClr val="954F72"/>
      </a:folHlink>
    </a:clrScheme>
    <a:fontScheme name="Soutenance — API Gateway santé">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2153</Words>
  <Application>Microsoft Office PowerPoint</Application>
  <PresentationFormat>Grand écran</PresentationFormat>
  <Paragraphs>252</Paragraphs>
  <Slides>14</Slides>
  <Notes>14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Times New Roman</vt:lpstr>
      <vt:lpstr>IBM Plex Sans</vt:lpstr>
      <vt:lpstr>Poppins</vt:lpstr>
      <vt:lpstr>Poppins Bold</vt:lpstr>
      <vt:lpstr>Arial</vt:lpstr>
      <vt:lpstr>JetBrains Mono</vt:lpstr>
      <vt:lpstr>Soutenance — API Gateway santé</vt:lpstr>
      <vt:lpstr>Présentation PowerPoint</vt:lpstr>
      <vt:lpstr>Un écran de pilotage demande trois sources. Le client ne doit en appeler qu’une.</vt:lpstr>
      <vt:lpstr>Kong transporte, l’agrégateur assemble</vt:lpstr>
      <vt:lpstr>Une brique par rôle</vt:lpstr>
      <vt:lpstr>Chacune ses données, son conteneur, son métier</vt:lpstr>
      <vt:lpstr>Trois appels lancés ensemble, une réponse</vt:lpstr>
      <vt:lpstr>Un fichier YAML décrit toute la passerelle</vt:lpstr>
      <vt:lpstr>« Zéro décès » et « on ne sait pas » ne doivent jamais se ressembler</vt:lpstr>
      <vt:lpstr>Seule la structure est indispensable</vt:lpstr>
      <vt:lpstr>Des délais emboîtés : la couche la mieux informée répond la première</vt:lpstr>
      <vt:lpstr>Un identifiant suit la requête dans les 5 composants</vt:lpstr>
      <vt:lpstr>Chaque panne de l’énoncé est provoquée, puis vérifiée</vt:lpstr>
      <vt:lpstr>Sept requêtes, sept comportements</vt:lpstr>
      <vt:lpstr>Un seul appel pour le client, et une panne n’éteint plus tout l’écran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API Gateway santé</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DIANDE</cp:lastModifiedBy>
  <cp:revision>4</cp:revision>
  <dcterms:created xsi:type="dcterms:W3CDTF">2026-10-28T17:39:35Z</dcterms:created>
  <dcterms:modified xsi:type="dcterms:W3CDTF">2026-10-29T09:20:48Z</dcterms:modified>
</cp:coreProperties>
</file>